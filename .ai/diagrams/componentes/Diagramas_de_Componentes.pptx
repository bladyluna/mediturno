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C76FA21-3D85-4A51-9E1C-696DAA1C407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5"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84BD177-8716-4FE1-A254-39D8591B8A3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685800" y="1143000"/>
            <a:ext cx="5486040" cy="3085920"/>
          </a:xfrm>
          <a:prstGeom prst="rect">
            <a:avLst/>
          </a:prstGeom>
          <a:ln w="0">
            <a:noFill/>
          </a:ln>
        </p:spPr>
      </p:sp>
      <p:sp>
        <p:nvSpPr>
          <p:cNvPr id="2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8"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58E46D6-B7C6-4BB6-B5D0-8EC0B8FF449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685800" y="1143000"/>
            <a:ext cx="5486040" cy="3085920"/>
          </a:xfrm>
          <a:prstGeom prst="rect">
            <a:avLst/>
          </a:prstGeom>
          <a:ln w="0">
            <a:noFill/>
          </a:ln>
        </p:spPr>
      </p:sp>
      <p:sp>
        <p:nvSpPr>
          <p:cNvPr id="26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Respuestas guía para las preguntas de análisis (flujo Aplicación Web -&gt; Gestión de Ventas -&gt; Base de Datos):</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1) ¿Qué componente utiliza a cuál? Aplicación Web utiliza a Gestión de Ventas, y Gestión de Ventas utiliza a Base de Datos. La dependencia va "hacia abajo": cada componente necesita al siguiente para completar su trabajo.</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2) ¿Qué componente proporciona un servicio? Gestión de Ventas le proporciona el servicio de "procesar ventas" a la Aplicación Web. Base de Datos le proporciona el servicio de "almacenar/recuperar datos" a Gestión de Ventas.</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 ¿Dónde se almacenan los datos? En el componente Base de Datos, que es el único responsable de la persistencia; ningún otro componente debería guardar datos directamente.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4) ¿Qué pasa si un componente deja de funcionar? Si falla Base de Datos, Gestión de Ventas no puede completar operaciones (falla en cascada). Si falla Gestión de Ventas, Aplicación Web pierde esa funcionalidad, pero otros módulos independientes seguirían operando (ventaja de dividir en componentes). Si falla Aplicación Web, el usuario no puede acceder, pero los datos y la lógica de negocio siguen intactos.</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Punto clave para la clase: entre más centralizado esté un componente (como Base de Datos), más crítico es su punto de falla. Esta idea conecta directamente con el diagrama de despliegue.</a:t>
            </a:r>
            <a:endParaRPr b="0" lang="en-US" sz="2000" spc="-1" strike="noStrike">
              <a:solidFill>
                <a:srgbClr val="000000"/>
              </a:solidFill>
              <a:latin typeface="Arial"/>
            </a:endParaRPr>
          </a:p>
        </p:txBody>
      </p:sp>
      <p:sp>
        <p:nvSpPr>
          <p:cNvPr id="261"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DA86A29-C72C-444B-AEB6-9F0DA676E41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6040" cy="3085920"/>
          </a:xfrm>
          <a:prstGeom prst="rect">
            <a:avLst/>
          </a:prstGeom>
          <a:ln w="0">
            <a:noFill/>
          </a:ln>
        </p:spPr>
      </p:sp>
      <p:sp>
        <p:nvSpPr>
          <p:cNvPr id="26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4"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A800C9F-E546-4416-B973-67C80F87C2C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6040" cy="3085920"/>
          </a:xfrm>
          <a:prstGeom prst="rect">
            <a:avLst/>
          </a:prstGeom>
          <a:ln w="0">
            <a:noFill/>
          </a:ln>
        </p:spPr>
      </p:sp>
      <p:sp>
        <p:nvSpPr>
          <p:cNvPr id="26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7"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7F0907F-E3CC-47C4-A75A-8D193642362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6040" cy="3085920"/>
          </a:xfrm>
          <a:prstGeom prst="rect">
            <a:avLst/>
          </a:prstGeom>
          <a:ln w="0">
            <a:noFill/>
          </a:ln>
        </p:spPr>
      </p:sp>
      <p:sp>
        <p:nvSpPr>
          <p:cNvPr id="2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0"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68C3619-900B-447B-80E9-BF255D392DF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6040" cy="3085920"/>
          </a:xfrm>
          <a:prstGeom prst="rect">
            <a:avLst/>
          </a:prstGeom>
          <a:ln w="0">
            <a:noFill/>
          </a:ln>
        </p:spPr>
      </p:sp>
      <p:sp>
        <p:nvSpPr>
          <p:cNvPr id="2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D6827AA-39BB-461E-834E-555794B1250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6040" cy="3085920"/>
          </a:xfrm>
          <a:prstGeom prst="rect">
            <a:avLst/>
          </a:prstGeom>
          <a:ln w="0">
            <a:noFill/>
          </a:ln>
        </p:spPr>
      </p:sp>
      <p:sp>
        <p:nvSpPr>
          <p:cNvPr id="2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408FF68-5167-4E85-B962-952F4D4B3DD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6040" cy="3085920"/>
          </a:xfrm>
          <a:prstGeom prst="rect">
            <a:avLst/>
          </a:prstGeom>
          <a:ln w="0">
            <a:noFill/>
          </a:ln>
        </p:spPr>
      </p:sp>
      <p:sp>
        <p:nvSpPr>
          <p:cNvPr id="2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E7B4DF1-11E0-45F1-93C0-2388C52E262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6040" cy="3085920"/>
          </a:xfrm>
          <a:prstGeom prst="rect">
            <a:avLst/>
          </a:prstGeom>
          <a:ln w="0">
            <a:noFill/>
          </a:ln>
        </p:spPr>
      </p:sp>
      <p:sp>
        <p:nvSpPr>
          <p:cNvPr id="2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39ED20E-FC98-43E9-953B-002778B632F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6040" cy="3085920"/>
          </a:xfrm>
          <a:prstGeom prst="rect">
            <a:avLst/>
          </a:prstGeom>
          <a:ln w="0">
            <a:noFill/>
          </a:ln>
        </p:spPr>
      </p:sp>
      <p:sp>
        <p:nvSpPr>
          <p:cNvPr id="2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0A0553C-8E2D-48E5-9C88-BAC934CC535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d33"/>
        </a:solidFill>
      </p:bgPr>
    </p:bg>
    <p:spTree>
      <p:nvGrpSpPr>
        <p:cNvPr id="1" name=""/>
        <p:cNvGrpSpPr/>
        <p:nvPr/>
      </p:nvGrpSpPr>
      <p:grpSpPr>
        <a:xfrm>
          <a:off x="0" y="0"/>
          <a:ext cx="0" cy="0"/>
          <a:chOff x="0" y="0"/>
          <a:chExt cx="0" cy="0"/>
        </a:xfrm>
      </p:grpSpPr>
      <p:sp>
        <p:nvSpPr>
          <p:cNvPr id="8" name="Shape 0"/>
          <p:cNvSpPr/>
          <p:nvPr/>
        </p:nvSpPr>
        <p:spPr>
          <a:xfrm>
            <a:off x="7863840" y="822960"/>
            <a:ext cx="1919880" cy="1188360"/>
          </a:xfrm>
          <a:prstGeom prst="roundRect">
            <a:avLst>
              <a:gd name="adj" fmla="val 4615"/>
            </a:avLst>
          </a:prstGeom>
          <a:solidFill>
            <a:srgbClr val="1b2a4a"/>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7635240" y="1051560"/>
            <a:ext cx="319680" cy="200880"/>
          </a:xfrm>
          <a:prstGeom prst="rect">
            <a:avLst/>
          </a:prstGeom>
          <a:solidFill>
            <a:srgbClr val="121d33"/>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Shape 2"/>
          <p:cNvSpPr/>
          <p:nvPr/>
        </p:nvSpPr>
        <p:spPr>
          <a:xfrm>
            <a:off x="7635240" y="1417320"/>
            <a:ext cx="319680" cy="200880"/>
          </a:xfrm>
          <a:prstGeom prst="rect">
            <a:avLst/>
          </a:prstGeom>
          <a:solidFill>
            <a:srgbClr val="121d33"/>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Shape 3"/>
          <p:cNvSpPr/>
          <p:nvPr/>
        </p:nvSpPr>
        <p:spPr>
          <a:xfrm>
            <a:off x="9418320" y="2377440"/>
            <a:ext cx="1919880" cy="1188360"/>
          </a:xfrm>
          <a:prstGeom prst="roundRect">
            <a:avLst>
              <a:gd name="adj" fmla="val 4615"/>
            </a:avLst>
          </a:prstGeom>
          <a:solidFill>
            <a:srgbClr val="1b2a4a"/>
          </a:solidFill>
          <a:ln w="1905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Shape 4"/>
          <p:cNvSpPr/>
          <p:nvPr/>
        </p:nvSpPr>
        <p:spPr>
          <a:xfrm>
            <a:off x="9189720" y="2606040"/>
            <a:ext cx="319680" cy="200880"/>
          </a:xfrm>
          <a:prstGeom prst="rect">
            <a:avLst/>
          </a:prstGeom>
          <a:solidFill>
            <a:srgbClr val="121d33"/>
          </a:solidFill>
          <a:ln w="1905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Shape 5"/>
          <p:cNvSpPr/>
          <p:nvPr/>
        </p:nvSpPr>
        <p:spPr>
          <a:xfrm>
            <a:off x="9189720" y="2971800"/>
            <a:ext cx="319680" cy="200880"/>
          </a:xfrm>
          <a:prstGeom prst="rect">
            <a:avLst/>
          </a:prstGeom>
          <a:solidFill>
            <a:srgbClr val="121d33"/>
          </a:solidFill>
          <a:ln w="1905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Shape 6"/>
          <p:cNvSpPr/>
          <p:nvPr/>
        </p:nvSpPr>
        <p:spPr>
          <a:xfrm>
            <a:off x="9784080" y="2011680"/>
            <a:ext cx="360" cy="365760"/>
          </a:xfrm>
          <a:prstGeom prst="line">
            <a:avLst/>
          </a:prstGeom>
          <a:ln w="25400">
            <a:solidFill>
              <a:srgbClr val="1fa37d"/>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5" name="Shape 7"/>
          <p:cNvSpPr/>
          <p:nvPr/>
        </p:nvSpPr>
        <p:spPr>
          <a:xfrm>
            <a:off x="9646920" y="1874520"/>
            <a:ext cx="273960" cy="273960"/>
          </a:xfrm>
          <a:prstGeom prst="ellipse">
            <a:avLst/>
          </a:prstGeom>
          <a:solidFill>
            <a:srgbClr val="121d33"/>
          </a:solidFill>
          <a:ln w="2540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Text 8"/>
          <p:cNvSpPr/>
          <p:nvPr/>
        </p:nvSpPr>
        <p:spPr>
          <a:xfrm>
            <a:off x="640080" y="2103120"/>
            <a:ext cx="73148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50" spc="299" strike="noStrike">
                <a:solidFill>
                  <a:srgbClr val="1fa37d"/>
                </a:solidFill>
                <a:latin typeface="Calibri"/>
                <a:ea typeface="Calibri"/>
              </a:rPr>
              <a:t>ANÁLISIS Y DISEÑO DE SISTEMAS II</a:t>
            </a:r>
            <a:endParaRPr b="0" lang="en-US" sz="1650" spc="-1" strike="noStrike">
              <a:solidFill>
                <a:srgbClr val="ffffff"/>
              </a:solidFill>
              <a:latin typeface="Arial"/>
            </a:endParaRPr>
          </a:p>
        </p:txBody>
      </p:sp>
      <p:sp>
        <p:nvSpPr>
          <p:cNvPr id="17" name="Text 9"/>
          <p:cNvSpPr/>
          <p:nvPr/>
        </p:nvSpPr>
        <p:spPr>
          <a:xfrm>
            <a:off x="594360" y="2468880"/>
            <a:ext cx="7589160" cy="1919880"/>
          </a:xfrm>
          <a:prstGeom prst="rect">
            <a:avLst/>
          </a:prstGeom>
          <a:noFill/>
          <a:ln w="0">
            <a:noFill/>
          </a:ln>
        </p:spPr>
        <p:style>
          <a:lnRef idx="0"/>
          <a:fillRef idx="0"/>
          <a:effectRef idx="0"/>
          <a:fontRef idx="minor"/>
        </p:style>
        <p:txBody>
          <a:bodyPr lIns="90000" rIns="90000" tIns="45000" bIns="45000" anchor="ctr">
            <a:noAutofit/>
          </a:bodyPr>
          <a:p>
            <a:pPr defTabSz="914400">
              <a:lnSpc>
                <a:spcPts val="4799"/>
              </a:lnSpc>
              <a:tabLst>
                <a:tab algn="l" pos="0"/>
              </a:tabLst>
            </a:pPr>
            <a:r>
              <a:rPr b="1" lang="en-US" sz="5000" spc="-1" strike="noStrike">
                <a:solidFill>
                  <a:srgbClr val="ffffff"/>
                </a:solidFill>
                <a:latin typeface="Calibri"/>
                <a:ea typeface="Calibri"/>
              </a:rPr>
              <a:t>DIAGRAMAS DE</a:t>
            </a:r>
            <a:endParaRPr b="0" lang="en-US" sz="5000" spc="-1" strike="noStrike">
              <a:solidFill>
                <a:srgbClr val="ffffff"/>
              </a:solidFill>
              <a:latin typeface="Arial"/>
            </a:endParaRPr>
          </a:p>
          <a:p>
            <a:pPr defTabSz="914400">
              <a:lnSpc>
                <a:spcPts val="4799"/>
              </a:lnSpc>
              <a:tabLst>
                <a:tab algn="l" pos="0"/>
              </a:tabLst>
            </a:pPr>
            <a:r>
              <a:rPr b="1" lang="en-US" sz="5000" spc="-1" strike="noStrike">
                <a:solidFill>
                  <a:srgbClr val="ffffff"/>
                </a:solidFill>
                <a:latin typeface="Calibri"/>
                <a:ea typeface="Calibri"/>
              </a:rPr>
              <a:t>COMPONENTES</a:t>
            </a:r>
            <a:endParaRPr b="0" lang="en-US" sz="5000" spc="-1" strike="noStrike">
              <a:solidFill>
                <a:srgbClr val="ffffff"/>
              </a:solidFill>
              <a:latin typeface="Arial"/>
            </a:endParaRPr>
          </a:p>
        </p:txBody>
      </p:sp>
      <p:sp>
        <p:nvSpPr>
          <p:cNvPr id="18" name="Text 10"/>
          <p:cNvSpPr/>
          <p:nvPr/>
        </p:nvSpPr>
        <p:spPr>
          <a:xfrm>
            <a:off x="640080" y="4434840"/>
            <a:ext cx="786348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ts val="2401"/>
              </a:lnSpc>
              <a:tabLst>
                <a:tab algn="l" pos="0"/>
              </a:tabLst>
            </a:pPr>
            <a:r>
              <a:rPr b="0" lang="en-US" sz="2000" spc="-1" strike="noStrike">
                <a:solidFill>
                  <a:srgbClr val="aeb8c9"/>
                </a:solidFill>
                <a:latin typeface="Calibri"/>
                <a:ea typeface="Calibri"/>
              </a:rPr>
              <a:t>DEL CONCEPTO A LA NOTACIÓN UML — CASO GUÍA: SISTEMA DE VENTAS</a:t>
            </a:r>
            <a:endParaRPr b="0" lang="en-US" sz="2000" spc="-1" strike="noStrike">
              <a:solidFill>
                <a:srgbClr val="ffffff"/>
              </a:solidFill>
              <a:latin typeface="Arial"/>
            </a:endParaRPr>
          </a:p>
        </p:txBody>
      </p:sp>
      <p:sp>
        <p:nvSpPr>
          <p:cNvPr id="19" name="Shape 11"/>
          <p:cNvSpPr/>
          <p:nvPr/>
        </p:nvSpPr>
        <p:spPr>
          <a:xfrm>
            <a:off x="640080" y="5257800"/>
            <a:ext cx="1280160" cy="360"/>
          </a:xfrm>
          <a:prstGeom prst="line">
            <a:avLst/>
          </a:prstGeom>
          <a:ln w="38100">
            <a:solidFill>
              <a:srgbClr val="1fa37d"/>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20"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PASO 1 · IDEA INTUITIVA</a:t>
            </a:r>
            <a:endParaRPr b="0" lang="en-US" sz="1550" spc="-1" strike="noStrike">
              <a:solidFill>
                <a:srgbClr val="000000"/>
              </a:solidFill>
              <a:latin typeface="Arial"/>
            </a:endParaRPr>
          </a:p>
        </p:txBody>
      </p:sp>
      <p:sp>
        <p:nvSpPr>
          <p:cNvPr id="21"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400" spc="-1" strike="noStrike">
                <a:solidFill>
                  <a:srgbClr val="1b2a4a"/>
                </a:solidFill>
                <a:latin typeface="Calibri"/>
                <a:ea typeface="Calibri"/>
              </a:rPr>
              <a:t>¿QUÉ ES UN COMPONENTE?</a:t>
            </a:r>
            <a:endParaRPr b="0" lang="en-US" sz="3400" spc="-1" strike="noStrike">
              <a:solidFill>
                <a:srgbClr val="000000"/>
              </a:solidFill>
              <a:latin typeface="Arial"/>
            </a:endParaRPr>
          </a:p>
        </p:txBody>
      </p:sp>
      <p:sp>
        <p:nvSpPr>
          <p:cNvPr id="22" name="Text 2"/>
          <p:cNvSpPr/>
          <p:nvPr/>
        </p:nvSpPr>
        <p:spPr>
          <a:xfrm>
            <a:off x="548640" y="1417320"/>
            <a:ext cx="6126120" cy="1051200"/>
          </a:xfrm>
          <a:prstGeom prst="rect">
            <a:avLst/>
          </a:prstGeom>
          <a:noFill/>
          <a:ln w="0">
            <a:noFill/>
          </a:ln>
        </p:spPr>
        <p:style>
          <a:lnRef idx="0"/>
          <a:fillRef idx="0"/>
          <a:effectRef idx="0"/>
          <a:fontRef idx="minor"/>
        </p:style>
        <p:txBody>
          <a:bodyPr lIns="90000" rIns="90000" tIns="45000" bIns="45000" anchor="ctr">
            <a:noAutofit/>
          </a:bodyPr>
          <a:p>
            <a:pPr defTabSz="914400">
              <a:lnSpc>
                <a:spcPts val="2200"/>
              </a:lnSpc>
              <a:tabLst>
                <a:tab algn="l" pos="0"/>
              </a:tabLst>
            </a:pPr>
            <a:r>
              <a:rPr b="0" lang="en-US" sz="1700" spc="-1" strike="noStrike">
                <a:solidFill>
                  <a:srgbClr val="5b6472"/>
                </a:solidFill>
                <a:latin typeface="Calibri"/>
                <a:ea typeface="Calibri"/>
              </a:rPr>
              <a:t>UN COMPONENTE ES UNA PARTE INDEPENDIENTE DE UN SISTEMA DE SOFTWARE QUE CUMPLE UNA RESPONSABILIDAD CONCRETA Y PUEDE INTERACTUAR CON OTROS COMPONENTES.</a:t>
            </a:r>
            <a:endParaRPr b="0" lang="en-US" sz="1700" spc="-1" strike="noStrike">
              <a:solidFill>
                <a:srgbClr val="000000"/>
              </a:solidFill>
              <a:latin typeface="Arial"/>
            </a:endParaRPr>
          </a:p>
        </p:txBody>
      </p:sp>
      <p:sp>
        <p:nvSpPr>
          <p:cNvPr id="23" name="Shape 3"/>
          <p:cNvSpPr/>
          <p:nvPr/>
        </p:nvSpPr>
        <p:spPr>
          <a:xfrm>
            <a:off x="548640" y="2697480"/>
            <a:ext cx="6126120" cy="776880"/>
          </a:xfrm>
          <a:prstGeom prst="roundRect">
            <a:avLst>
              <a:gd name="adj" fmla="val 9412"/>
            </a:avLst>
          </a:prstGeom>
          <a:solidFill>
            <a:srgbClr val="1b2a4a"/>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Text 4"/>
          <p:cNvSpPr/>
          <p:nvPr/>
        </p:nvSpPr>
        <p:spPr>
          <a:xfrm>
            <a:off x="822960" y="2697480"/>
            <a:ext cx="557748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i="1" lang="en-US" sz="1700" spc="-1" strike="noStrike">
                <a:solidFill>
                  <a:srgbClr val="ffffff"/>
                </a:solidFill>
                <a:latin typeface="Calibri"/>
                <a:ea typeface="Calibri"/>
              </a:rPr>
              <a:t>¿QUÉ PARTES IMPORTANTES NECESITA MI SISTEMA PARA FUNCIONAR?</a:t>
            </a:r>
            <a:endParaRPr b="0" lang="en-US" sz="1700" spc="-1" strike="noStrike">
              <a:solidFill>
                <a:srgbClr val="000000"/>
              </a:solidFill>
              <a:latin typeface="Arial"/>
            </a:endParaRPr>
          </a:p>
        </p:txBody>
      </p:sp>
      <p:sp>
        <p:nvSpPr>
          <p:cNvPr id="25" name="Text 5"/>
          <p:cNvSpPr/>
          <p:nvPr/>
        </p:nvSpPr>
        <p:spPr>
          <a:xfrm>
            <a:off x="548640" y="3749040"/>
            <a:ext cx="612612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pc="-1" strike="noStrike">
                <a:solidFill>
                  <a:srgbClr val="5b6472"/>
                </a:solidFill>
                <a:latin typeface="Calibri"/>
                <a:ea typeface="Calibri"/>
              </a:rPr>
              <a:t>ASÍ LO PENSAMOS, SIN NOTACIÓN FORMAL TODAVÍA, EN UN SISTEMA DE VENTAS:</a:t>
            </a:r>
            <a:endParaRPr b="0" lang="en-US" sz="1500" spc="-1" strike="noStrike">
              <a:solidFill>
                <a:srgbClr val="000000"/>
              </a:solidFill>
              <a:latin typeface="Arial"/>
            </a:endParaRPr>
          </a:p>
        </p:txBody>
      </p:sp>
      <p:sp>
        <p:nvSpPr>
          <p:cNvPr id="26" name="Shape 6"/>
          <p:cNvSpPr/>
          <p:nvPr/>
        </p:nvSpPr>
        <p:spPr>
          <a:xfrm>
            <a:off x="7178040" y="1417320"/>
            <a:ext cx="4434480" cy="4571640"/>
          </a:xfrm>
          <a:prstGeom prst="roundRect">
            <a:avLst>
              <a:gd name="adj" fmla="val 1649"/>
            </a:avLst>
          </a:prstGeom>
          <a:solidFill>
            <a:srgbClr val="1b2a4a"/>
          </a:solidFill>
          <a:ln w="12700">
            <a:solidFill>
              <a:srgbClr val="2e3e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Text 7"/>
          <p:cNvSpPr/>
          <p:nvPr/>
        </p:nvSpPr>
        <p:spPr>
          <a:xfrm>
            <a:off x="7498080" y="1645920"/>
            <a:ext cx="38401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48" strike="noStrike">
                <a:solidFill>
                  <a:srgbClr val="1fa37d"/>
                </a:solidFill>
                <a:latin typeface="Calibri"/>
                <a:ea typeface="Calibri"/>
              </a:rPr>
              <a:t>SISTEMA DE VENTAS</a:t>
            </a:r>
            <a:endParaRPr b="0" lang="en-US" sz="1550" spc="-1" strike="noStrike">
              <a:solidFill>
                <a:srgbClr val="000000"/>
              </a:solidFill>
              <a:latin typeface="Arial"/>
            </a:endParaRPr>
          </a:p>
        </p:txBody>
      </p:sp>
      <p:sp>
        <p:nvSpPr>
          <p:cNvPr id="28" name="Shape 8"/>
          <p:cNvSpPr/>
          <p:nvPr/>
        </p:nvSpPr>
        <p:spPr>
          <a:xfrm>
            <a:off x="7543800" y="2286000"/>
            <a:ext cx="3748680" cy="914040"/>
          </a:xfrm>
          <a:prstGeom prst="roundRect">
            <a:avLst>
              <a:gd name="adj" fmla="val 5000"/>
            </a:avLst>
          </a:prstGeom>
          <a:solidFill>
            <a:srgbClr val="121d33"/>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 name="Text 9"/>
          <p:cNvSpPr/>
          <p:nvPr/>
        </p:nvSpPr>
        <p:spPr>
          <a:xfrm>
            <a:off x="7543800" y="2286000"/>
            <a:ext cx="374868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50" spc="-1" strike="noStrike">
                <a:solidFill>
                  <a:srgbClr val="ffffff"/>
                </a:solidFill>
                <a:latin typeface="Calibri"/>
                <a:ea typeface="Calibri"/>
              </a:rPr>
              <a:t>GESTIÓN DE VENTAS</a:t>
            </a:r>
            <a:endParaRPr b="0" lang="en-US" sz="1650" spc="-1" strike="noStrike">
              <a:solidFill>
                <a:srgbClr val="000000"/>
              </a:solidFill>
              <a:latin typeface="Arial"/>
            </a:endParaRPr>
          </a:p>
        </p:txBody>
      </p:sp>
      <p:sp>
        <p:nvSpPr>
          <p:cNvPr id="30" name="Shape 10"/>
          <p:cNvSpPr/>
          <p:nvPr/>
        </p:nvSpPr>
        <p:spPr>
          <a:xfrm>
            <a:off x="7543800" y="3429000"/>
            <a:ext cx="3748680" cy="914040"/>
          </a:xfrm>
          <a:prstGeom prst="roundRect">
            <a:avLst>
              <a:gd name="adj" fmla="val 5000"/>
            </a:avLst>
          </a:prstGeom>
          <a:solidFill>
            <a:srgbClr val="121d33"/>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Text 11"/>
          <p:cNvSpPr/>
          <p:nvPr/>
        </p:nvSpPr>
        <p:spPr>
          <a:xfrm>
            <a:off x="7543800" y="3429000"/>
            <a:ext cx="374868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50" spc="-1" strike="noStrike">
                <a:solidFill>
                  <a:srgbClr val="ffffff"/>
                </a:solidFill>
                <a:latin typeface="Calibri"/>
                <a:ea typeface="Calibri"/>
              </a:rPr>
              <a:t>GESTIÓN DE CLIENTES</a:t>
            </a:r>
            <a:endParaRPr b="0" lang="en-US" sz="1650" spc="-1" strike="noStrike">
              <a:solidFill>
                <a:srgbClr val="000000"/>
              </a:solidFill>
              <a:latin typeface="Arial"/>
            </a:endParaRPr>
          </a:p>
        </p:txBody>
      </p:sp>
      <p:sp>
        <p:nvSpPr>
          <p:cNvPr id="32" name="Shape 12"/>
          <p:cNvSpPr/>
          <p:nvPr/>
        </p:nvSpPr>
        <p:spPr>
          <a:xfrm>
            <a:off x="7543800" y="4572000"/>
            <a:ext cx="3748680" cy="914040"/>
          </a:xfrm>
          <a:prstGeom prst="roundRect">
            <a:avLst>
              <a:gd name="adj" fmla="val 5000"/>
            </a:avLst>
          </a:prstGeom>
          <a:solidFill>
            <a:srgbClr val="121d33"/>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 name="Text 13"/>
          <p:cNvSpPr/>
          <p:nvPr/>
        </p:nvSpPr>
        <p:spPr>
          <a:xfrm>
            <a:off x="7543800" y="4572000"/>
            <a:ext cx="374868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650" spc="-1" strike="noStrike">
                <a:solidFill>
                  <a:srgbClr val="ffffff"/>
                </a:solidFill>
                <a:latin typeface="Calibri"/>
                <a:ea typeface="Calibri"/>
              </a:rPr>
              <a:t>GESTIÓN DE PRODUCTOS</a:t>
            </a:r>
            <a:endParaRPr b="0" lang="en-US" sz="1650" spc="-1" strike="noStrike">
              <a:solidFill>
                <a:srgbClr val="000000"/>
              </a:solidFill>
              <a:latin typeface="Arial"/>
            </a:endParaRPr>
          </a:p>
        </p:txBody>
      </p:sp>
      <p:sp>
        <p:nvSpPr>
          <p:cNvPr id="34" name="Text 14"/>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02</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d33"/>
        </a:solidFill>
      </p:bgPr>
    </p:bg>
    <p:spTree>
      <p:nvGrpSpPr>
        <p:cNvPr id="1" name=""/>
        <p:cNvGrpSpPr/>
        <p:nvPr/>
      </p:nvGrpSpPr>
      <p:grpSpPr>
        <a:xfrm>
          <a:off x="0" y="0"/>
          <a:ext cx="0" cy="0"/>
          <a:chOff x="0" y="0"/>
          <a:chExt cx="0" cy="0"/>
        </a:xfrm>
      </p:grpSpPr>
      <p:sp>
        <p:nvSpPr>
          <p:cNvPr id="35"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PASO 2 · COMPONENTES + RELACIONES</a:t>
            </a:r>
            <a:endParaRPr b="0" lang="en-US" sz="1550" spc="-1" strike="noStrike">
              <a:solidFill>
                <a:srgbClr val="ffffff"/>
              </a:solidFill>
              <a:latin typeface="Arial"/>
            </a:endParaRPr>
          </a:p>
        </p:txBody>
      </p:sp>
      <p:sp>
        <p:nvSpPr>
          <p:cNvPr id="36"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ffffff"/>
                </a:solidFill>
                <a:latin typeface="Calibri"/>
                <a:ea typeface="Calibri"/>
              </a:rPr>
              <a:t>¿CÓMO SE RELACIONAN LOS COMPONENTES?</a:t>
            </a:r>
            <a:endParaRPr b="0" lang="en-US" sz="3200" spc="-1" strike="noStrike">
              <a:solidFill>
                <a:srgbClr val="ffffff"/>
              </a:solidFill>
              <a:latin typeface="Arial"/>
            </a:endParaRPr>
          </a:p>
        </p:txBody>
      </p:sp>
      <p:sp>
        <p:nvSpPr>
          <p:cNvPr id="37" name="Shape 2"/>
          <p:cNvSpPr/>
          <p:nvPr/>
        </p:nvSpPr>
        <p:spPr>
          <a:xfrm>
            <a:off x="914400" y="1783080"/>
            <a:ext cx="3291480" cy="822600"/>
          </a:xfrm>
          <a:prstGeom prst="roundRect">
            <a:avLst>
              <a:gd name="adj" fmla="val 6667"/>
            </a:avLst>
          </a:prstGeom>
          <a:solidFill>
            <a:srgbClr val="1b2a4a"/>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Text 3"/>
          <p:cNvSpPr/>
          <p:nvPr/>
        </p:nvSpPr>
        <p:spPr>
          <a:xfrm>
            <a:off x="914400" y="1783080"/>
            <a:ext cx="329148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ffffff"/>
                </a:solidFill>
                <a:latin typeface="Calibri"/>
                <a:ea typeface="Calibri"/>
              </a:rPr>
              <a:t>APLICACIÓN WEB</a:t>
            </a:r>
            <a:endParaRPr b="0" lang="en-US" sz="1800" spc="-1" strike="noStrike">
              <a:solidFill>
                <a:srgbClr val="ffffff"/>
              </a:solidFill>
              <a:latin typeface="Arial"/>
            </a:endParaRPr>
          </a:p>
        </p:txBody>
      </p:sp>
      <p:sp>
        <p:nvSpPr>
          <p:cNvPr id="39" name="Shape 4"/>
          <p:cNvSpPr/>
          <p:nvPr/>
        </p:nvSpPr>
        <p:spPr>
          <a:xfrm>
            <a:off x="2560320" y="2606040"/>
            <a:ext cx="360" cy="457200"/>
          </a:xfrm>
          <a:prstGeom prst="line">
            <a:avLst/>
          </a:prstGeom>
          <a:ln w="25400">
            <a:solidFill>
              <a:srgbClr val="1fa37d"/>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0" name="Shape 5"/>
          <p:cNvSpPr/>
          <p:nvPr/>
        </p:nvSpPr>
        <p:spPr>
          <a:xfrm>
            <a:off x="914400" y="3063240"/>
            <a:ext cx="3291480" cy="822600"/>
          </a:xfrm>
          <a:prstGeom prst="roundRect">
            <a:avLst>
              <a:gd name="adj" fmla="val 6667"/>
            </a:avLst>
          </a:prstGeom>
          <a:solidFill>
            <a:srgbClr val="1b2a4a"/>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Text 6"/>
          <p:cNvSpPr/>
          <p:nvPr/>
        </p:nvSpPr>
        <p:spPr>
          <a:xfrm>
            <a:off x="914400" y="3063240"/>
            <a:ext cx="329148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ffffff"/>
                </a:solidFill>
                <a:latin typeface="Calibri"/>
                <a:ea typeface="Calibri"/>
              </a:rPr>
              <a:t>GESTIÓN DE VENTAS</a:t>
            </a:r>
            <a:endParaRPr b="0" lang="en-US" sz="1800" spc="-1" strike="noStrike">
              <a:solidFill>
                <a:srgbClr val="ffffff"/>
              </a:solidFill>
              <a:latin typeface="Arial"/>
            </a:endParaRPr>
          </a:p>
        </p:txBody>
      </p:sp>
      <p:sp>
        <p:nvSpPr>
          <p:cNvPr id="42" name="Shape 7"/>
          <p:cNvSpPr/>
          <p:nvPr/>
        </p:nvSpPr>
        <p:spPr>
          <a:xfrm>
            <a:off x="2560320" y="3886200"/>
            <a:ext cx="360" cy="457200"/>
          </a:xfrm>
          <a:prstGeom prst="line">
            <a:avLst/>
          </a:prstGeom>
          <a:ln w="25400">
            <a:solidFill>
              <a:srgbClr val="1fa37d"/>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3" name="Shape 8"/>
          <p:cNvSpPr/>
          <p:nvPr/>
        </p:nvSpPr>
        <p:spPr>
          <a:xfrm>
            <a:off x="914400" y="4343400"/>
            <a:ext cx="3291480" cy="822600"/>
          </a:xfrm>
          <a:prstGeom prst="roundRect">
            <a:avLst>
              <a:gd name="adj" fmla="val 6667"/>
            </a:avLst>
          </a:prstGeom>
          <a:solidFill>
            <a:srgbClr val="1b2a4a"/>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Text 9"/>
          <p:cNvSpPr/>
          <p:nvPr/>
        </p:nvSpPr>
        <p:spPr>
          <a:xfrm>
            <a:off x="914400" y="4343400"/>
            <a:ext cx="329148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ffffff"/>
                </a:solidFill>
                <a:latin typeface="Calibri"/>
                <a:ea typeface="Calibri"/>
              </a:rPr>
              <a:t>BASE DE DATOS</a:t>
            </a:r>
            <a:endParaRPr b="0" lang="en-US" sz="1800" spc="-1" strike="noStrike">
              <a:solidFill>
                <a:srgbClr val="ffffff"/>
              </a:solidFill>
              <a:latin typeface="Arial"/>
            </a:endParaRPr>
          </a:p>
        </p:txBody>
      </p:sp>
      <p:sp>
        <p:nvSpPr>
          <p:cNvPr id="45" name="Text 10"/>
          <p:cNvSpPr/>
          <p:nvPr/>
        </p:nvSpPr>
        <p:spPr>
          <a:xfrm>
            <a:off x="5852160" y="1783080"/>
            <a:ext cx="54860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48" strike="noStrike">
                <a:solidFill>
                  <a:srgbClr val="e8a33d"/>
                </a:solidFill>
                <a:latin typeface="Calibri"/>
                <a:ea typeface="Calibri"/>
              </a:rPr>
              <a:t>PREGUNTAS PARA ANALIZAR</a:t>
            </a:r>
            <a:endParaRPr b="0" lang="en-US" sz="1550" spc="-1" strike="noStrike">
              <a:solidFill>
                <a:srgbClr val="ffffff"/>
              </a:solidFill>
              <a:latin typeface="Arial"/>
            </a:endParaRPr>
          </a:p>
        </p:txBody>
      </p:sp>
      <p:sp>
        <p:nvSpPr>
          <p:cNvPr id="46" name="Shape 11"/>
          <p:cNvSpPr/>
          <p:nvPr/>
        </p:nvSpPr>
        <p:spPr>
          <a:xfrm>
            <a:off x="5852160" y="2377440"/>
            <a:ext cx="127800" cy="1278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 name="Text 12"/>
          <p:cNvSpPr/>
          <p:nvPr/>
        </p:nvSpPr>
        <p:spPr>
          <a:xfrm>
            <a:off x="6172200" y="2221920"/>
            <a:ext cx="53031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ts val="1800"/>
              </a:lnSpc>
              <a:tabLst>
                <a:tab algn="l" pos="0"/>
              </a:tabLst>
            </a:pPr>
            <a:r>
              <a:rPr b="0" lang="en-US" sz="1650" spc="-1" strike="noStrike">
                <a:solidFill>
                  <a:srgbClr val="dce3ee"/>
                </a:solidFill>
                <a:latin typeface="Calibri"/>
                <a:ea typeface="Calibri"/>
              </a:rPr>
              <a:t>¿QUÉ COMPONENTE UTILIZA A CUÁL?</a:t>
            </a:r>
            <a:endParaRPr b="0" lang="en-US" sz="1650" spc="-1" strike="noStrike">
              <a:solidFill>
                <a:srgbClr val="ffffff"/>
              </a:solidFill>
              <a:latin typeface="Arial"/>
            </a:endParaRPr>
          </a:p>
        </p:txBody>
      </p:sp>
      <p:sp>
        <p:nvSpPr>
          <p:cNvPr id="48" name="Shape 13"/>
          <p:cNvSpPr/>
          <p:nvPr/>
        </p:nvSpPr>
        <p:spPr>
          <a:xfrm>
            <a:off x="5852160" y="3090600"/>
            <a:ext cx="127800" cy="1278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9" name="Text 14"/>
          <p:cNvSpPr/>
          <p:nvPr/>
        </p:nvSpPr>
        <p:spPr>
          <a:xfrm>
            <a:off x="6172200" y="2935080"/>
            <a:ext cx="53031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ts val="1800"/>
              </a:lnSpc>
              <a:tabLst>
                <a:tab algn="l" pos="0"/>
              </a:tabLst>
            </a:pPr>
            <a:r>
              <a:rPr b="0" lang="en-US" sz="1650" spc="-1" strike="noStrike">
                <a:solidFill>
                  <a:srgbClr val="dce3ee"/>
                </a:solidFill>
                <a:latin typeface="Calibri"/>
                <a:ea typeface="Calibri"/>
              </a:rPr>
              <a:t>¿QUÉ COMPONENTE PROPORCIONA UN SERVICIO?</a:t>
            </a:r>
            <a:endParaRPr b="0" lang="en-US" sz="1650" spc="-1" strike="noStrike">
              <a:solidFill>
                <a:srgbClr val="ffffff"/>
              </a:solidFill>
              <a:latin typeface="Arial"/>
            </a:endParaRPr>
          </a:p>
        </p:txBody>
      </p:sp>
      <p:sp>
        <p:nvSpPr>
          <p:cNvPr id="50" name="Shape 15"/>
          <p:cNvSpPr/>
          <p:nvPr/>
        </p:nvSpPr>
        <p:spPr>
          <a:xfrm>
            <a:off x="5852160" y="3803760"/>
            <a:ext cx="127800" cy="1278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 name="Text 16"/>
          <p:cNvSpPr/>
          <p:nvPr/>
        </p:nvSpPr>
        <p:spPr>
          <a:xfrm>
            <a:off x="6172200" y="3648600"/>
            <a:ext cx="53031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ts val="1800"/>
              </a:lnSpc>
              <a:tabLst>
                <a:tab algn="l" pos="0"/>
              </a:tabLst>
            </a:pPr>
            <a:r>
              <a:rPr b="0" lang="en-US" sz="1650" spc="-1" strike="noStrike">
                <a:solidFill>
                  <a:srgbClr val="dce3ee"/>
                </a:solidFill>
                <a:latin typeface="Calibri"/>
                <a:ea typeface="Calibri"/>
              </a:rPr>
              <a:t>¿DÓNDE SE ALMACENAN LOS DATOS?</a:t>
            </a:r>
            <a:endParaRPr b="0" lang="en-US" sz="1650" spc="-1" strike="noStrike">
              <a:solidFill>
                <a:srgbClr val="ffffff"/>
              </a:solidFill>
              <a:latin typeface="Arial"/>
            </a:endParaRPr>
          </a:p>
        </p:txBody>
      </p:sp>
      <p:sp>
        <p:nvSpPr>
          <p:cNvPr id="52" name="Shape 17"/>
          <p:cNvSpPr/>
          <p:nvPr/>
        </p:nvSpPr>
        <p:spPr>
          <a:xfrm>
            <a:off x="5852160" y="4517280"/>
            <a:ext cx="127800" cy="127800"/>
          </a:xfrm>
          <a:prstGeom prst="ellipse">
            <a:avLst/>
          </a:prstGeom>
          <a:solidFill>
            <a:srgbClr val="e8a33d"/>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 name="Text 18"/>
          <p:cNvSpPr/>
          <p:nvPr/>
        </p:nvSpPr>
        <p:spPr>
          <a:xfrm>
            <a:off x="6172200" y="4361760"/>
            <a:ext cx="53031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ts val="1800"/>
              </a:lnSpc>
              <a:tabLst>
                <a:tab algn="l" pos="0"/>
              </a:tabLst>
            </a:pPr>
            <a:r>
              <a:rPr b="0" lang="en-US" sz="1650" spc="-1" strike="noStrike">
                <a:solidFill>
                  <a:srgbClr val="dce3ee"/>
                </a:solidFill>
                <a:latin typeface="Calibri"/>
                <a:ea typeface="Calibri"/>
              </a:rPr>
              <a:t>¿QUÉ PASA SI UN COMPONENTE DEJA DE FUNCIONAR?</a:t>
            </a:r>
            <a:endParaRPr b="0" lang="en-US" sz="1650" spc="-1" strike="noStrike">
              <a:solidFill>
                <a:srgbClr val="ffffff"/>
              </a:solidFill>
              <a:latin typeface="Arial"/>
            </a:endParaRPr>
          </a:p>
        </p:txBody>
      </p:sp>
      <p:sp>
        <p:nvSpPr>
          <p:cNvPr id="54" name="Text 19"/>
          <p:cNvSpPr/>
          <p:nvPr/>
        </p:nvSpPr>
        <p:spPr>
          <a:xfrm>
            <a:off x="548640" y="5806440"/>
            <a:ext cx="1060668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500" spc="-1" strike="noStrike">
                <a:solidFill>
                  <a:srgbClr val="8a97ac"/>
                </a:solidFill>
                <a:latin typeface="Calibri"/>
                <a:ea typeface="Calibri"/>
              </a:rPr>
              <a:t>EN ESTE NIVEL YA PODEMOS RAZONAR SOBRE DEPENDENCIAS, AUNQUE TODAVÍA NO USEMOS LA NOTACIÓN UML FORMAL.</a:t>
            </a:r>
            <a:endParaRPr b="0" lang="en-US" sz="1500" spc="-1" strike="noStrike">
              <a:solidFill>
                <a:srgbClr val="ffffff"/>
              </a:solidFill>
              <a:latin typeface="Arial"/>
            </a:endParaRPr>
          </a:p>
        </p:txBody>
      </p:sp>
      <p:sp>
        <p:nvSpPr>
          <p:cNvPr id="55" name="Text 20"/>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03</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56"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PASO 3 · NOTACIÓN UML</a:t>
            </a:r>
            <a:endParaRPr b="0" lang="en-US" sz="1550" spc="-1" strike="noStrike">
              <a:solidFill>
                <a:srgbClr val="000000"/>
              </a:solidFill>
              <a:latin typeface="Arial"/>
            </a:endParaRPr>
          </a:p>
        </p:txBody>
      </p:sp>
      <p:sp>
        <p:nvSpPr>
          <p:cNvPr id="57"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100" spc="-1" strike="noStrike">
                <a:solidFill>
                  <a:srgbClr val="1b2a4a"/>
                </a:solidFill>
                <a:latin typeface="Calibri"/>
                <a:ea typeface="Calibri"/>
              </a:rPr>
              <a:t>LLEVÁNDOLO A UML: EL DIAGRAMA DE COMPONENTES</a:t>
            </a:r>
            <a:endParaRPr b="0" lang="en-US" sz="3100" spc="-1" strike="noStrike">
              <a:solidFill>
                <a:srgbClr val="000000"/>
              </a:solidFill>
              <a:latin typeface="Arial"/>
            </a:endParaRPr>
          </a:p>
        </p:txBody>
      </p:sp>
      <p:sp>
        <p:nvSpPr>
          <p:cNvPr id="58" name="Text 2"/>
          <p:cNvSpPr/>
          <p:nvPr/>
        </p:nvSpPr>
        <p:spPr>
          <a:xfrm>
            <a:off x="548640" y="1508760"/>
            <a:ext cx="6309000" cy="1234080"/>
          </a:xfrm>
          <a:prstGeom prst="rect">
            <a:avLst/>
          </a:prstGeom>
          <a:noFill/>
          <a:ln w="0">
            <a:noFill/>
          </a:ln>
        </p:spPr>
        <p:style>
          <a:lnRef idx="0"/>
          <a:fillRef idx="0"/>
          <a:effectRef idx="0"/>
          <a:fontRef idx="minor"/>
        </p:style>
        <p:txBody>
          <a:bodyPr lIns="90000" rIns="90000" tIns="45000" bIns="45000" anchor="ctr">
            <a:noAutofit/>
          </a:bodyPr>
          <a:p>
            <a:pPr defTabSz="914400">
              <a:lnSpc>
                <a:spcPts val="2200"/>
              </a:lnSpc>
              <a:tabLst>
                <a:tab algn="l" pos="0"/>
              </a:tabLst>
            </a:pPr>
            <a:r>
              <a:rPr b="0" lang="en-US" sz="1700" spc="-1" strike="noStrike">
                <a:solidFill>
                  <a:srgbClr val="5b6472"/>
                </a:solidFill>
                <a:latin typeface="Calibri"/>
                <a:ea typeface="Calibri"/>
              </a:rPr>
              <a:t>ES UN DIAGRAMA ESTRUCTURAL DE UML QUE MUESTRA CÓMO UN SISTEMA SE ORGANIZA EN COMPONENTES: MÓDULOS REEMPLAZABLES Y ENCAPSULADOS QUE EXPONEN SU FUNCIONALIDAD MEDIANTE INTERFACES BIEN DEFINIDAS.</a:t>
            </a:r>
            <a:endParaRPr b="0" lang="en-US" sz="1700" spc="-1" strike="noStrike">
              <a:solidFill>
                <a:srgbClr val="000000"/>
              </a:solidFill>
              <a:latin typeface="Arial"/>
            </a:endParaRPr>
          </a:p>
        </p:txBody>
      </p:sp>
      <p:sp>
        <p:nvSpPr>
          <p:cNvPr id="59" name="Shape 3"/>
          <p:cNvSpPr/>
          <p:nvPr/>
        </p:nvSpPr>
        <p:spPr>
          <a:xfrm>
            <a:off x="548640" y="2971800"/>
            <a:ext cx="72720" cy="776880"/>
          </a:xfrm>
          <a:prstGeom prst="rect">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Text 4"/>
          <p:cNvSpPr/>
          <p:nvPr/>
        </p:nvSpPr>
        <p:spPr>
          <a:xfrm>
            <a:off x="777240" y="2944440"/>
            <a:ext cx="59432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4a"/>
                </a:solidFill>
                <a:latin typeface="Calibri"/>
                <a:ea typeface="Calibri"/>
              </a:rPr>
              <a:t>ENCAPSULAMIENTO</a:t>
            </a:r>
            <a:endParaRPr b="0" lang="en-US" sz="1800" spc="-1" strike="noStrike">
              <a:solidFill>
                <a:srgbClr val="000000"/>
              </a:solidFill>
              <a:latin typeface="Arial"/>
            </a:endParaRPr>
          </a:p>
        </p:txBody>
      </p:sp>
      <p:sp>
        <p:nvSpPr>
          <p:cNvPr id="61" name="Text 5"/>
          <p:cNvSpPr/>
          <p:nvPr/>
        </p:nvSpPr>
        <p:spPr>
          <a:xfrm>
            <a:off x="777240" y="3264480"/>
            <a:ext cx="59432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ts val="1701"/>
              </a:lnSpc>
              <a:tabLst>
                <a:tab algn="l" pos="0"/>
              </a:tabLst>
            </a:pPr>
            <a:r>
              <a:rPr b="0" lang="en-US" sz="1500" spc="-1" strike="noStrike">
                <a:solidFill>
                  <a:srgbClr val="5b6472"/>
                </a:solidFill>
                <a:latin typeface="Calibri"/>
                <a:ea typeface="Calibri"/>
              </a:rPr>
              <a:t>OCULTA LA IMPLEMENTACIÓN INTERNA; SOLO EXPONE LO NECESARIO MEDIANTE INTERFACES.</a:t>
            </a:r>
            <a:endParaRPr b="0" lang="en-US" sz="1500" spc="-1" strike="noStrike">
              <a:solidFill>
                <a:srgbClr val="000000"/>
              </a:solidFill>
              <a:latin typeface="Arial"/>
            </a:endParaRPr>
          </a:p>
        </p:txBody>
      </p:sp>
      <p:sp>
        <p:nvSpPr>
          <p:cNvPr id="62" name="Shape 6"/>
          <p:cNvSpPr/>
          <p:nvPr/>
        </p:nvSpPr>
        <p:spPr>
          <a:xfrm>
            <a:off x="548640" y="3931920"/>
            <a:ext cx="72720" cy="776880"/>
          </a:xfrm>
          <a:prstGeom prst="rect">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 name="Text 7"/>
          <p:cNvSpPr/>
          <p:nvPr/>
        </p:nvSpPr>
        <p:spPr>
          <a:xfrm>
            <a:off x="777240" y="3904560"/>
            <a:ext cx="59432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4a"/>
                </a:solidFill>
                <a:latin typeface="Calibri"/>
                <a:ea typeface="Calibri"/>
              </a:rPr>
              <a:t>MODULARIDAD</a:t>
            </a:r>
            <a:endParaRPr b="0" lang="en-US" sz="1800" spc="-1" strike="noStrike">
              <a:solidFill>
                <a:srgbClr val="000000"/>
              </a:solidFill>
              <a:latin typeface="Arial"/>
            </a:endParaRPr>
          </a:p>
        </p:txBody>
      </p:sp>
      <p:sp>
        <p:nvSpPr>
          <p:cNvPr id="64" name="Text 8"/>
          <p:cNvSpPr/>
          <p:nvPr/>
        </p:nvSpPr>
        <p:spPr>
          <a:xfrm>
            <a:off x="777240" y="4224600"/>
            <a:ext cx="59432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ts val="1701"/>
              </a:lnSpc>
              <a:tabLst>
                <a:tab algn="l" pos="0"/>
              </a:tabLst>
            </a:pPr>
            <a:r>
              <a:rPr b="0" lang="en-US" sz="1500" spc="-1" strike="noStrike">
                <a:solidFill>
                  <a:srgbClr val="5b6472"/>
                </a:solidFill>
                <a:latin typeface="Calibri"/>
                <a:ea typeface="Calibri"/>
              </a:rPr>
              <a:t>CADA COMPONENTE PUEDE DESARROLLARSE, PROBARSE Y SUSTITUIRSE DE FORMA INDEPENDIENTE.</a:t>
            </a:r>
            <a:endParaRPr b="0" lang="en-US" sz="1500" spc="-1" strike="noStrike">
              <a:solidFill>
                <a:srgbClr val="000000"/>
              </a:solidFill>
              <a:latin typeface="Arial"/>
            </a:endParaRPr>
          </a:p>
        </p:txBody>
      </p:sp>
      <p:sp>
        <p:nvSpPr>
          <p:cNvPr id="65" name="Shape 9"/>
          <p:cNvSpPr/>
          <p:nvPr/>
        </p:nvSpPr>
        <p:spPr>
          <a:xfrm>
            <a:off x="548640" y="4892040"/>
            <a:ext cx="72720" cy="776880"/>
          </a:xfrm>
          <a:prstGeom prst="rect">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 name="Text 10"/>
          <p:cNvSpPr/>
          <p:nvPr/>
        </p:nvSpPr>
        <p:spPr>
          <a:xfrm>
            <a:off x="777240" y="4864680"/>
            <a:ext cx="59432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b2a4a"/>
                </a:solidFill>
                <a:latin typeface="Calibri"/>
                <a:ea typeface="Calibri"/>
              </a:rPr>
              <a:t>DEPENDENCIAS CLARAS</a:t>
            </a:r>
            <a:endParaRPr b="0" lang="en-US" sz="1800" spc="-1" strike="noStrike">
              <a:solidFill>
                <a:srgbClr val="000000"/>
              </a:solidFill>
              <a:latin typeface="Arial"/>
            </a:endParaRPr>
          </a:p>
        </p:txBody>
      </p:sp>
      <p:sp>
        <p:nvSpPr>
          <p:cNvPr id="67" name="Text 11"/>
          <p:cNvSpPr/>
          <p:nvPr/>
        </p:nvSpPr>
        <p:spPr>
          <a:xfrm>
            <a:off x="777240" y="5184720"/>
            <a:ext cx="594324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ts val="1701"/>
              </a:lnSpc>
              <a:tabLst>
                <a:tab algn="l" pos="0"/>
              </a:tabLst>
            </a:pPr>
            <a:r>
              <a:rPr b="0" lang="en-US" sz="1500" spc="-1" strike="noStrike">
                <a:solidFill>
                  <a:srgbClr val="5b6472"/>
                </a:solidFill>
                <a:latin typeface="Calibri"/>
                <a:ea typeface="Calibri"/>
              </a:rPr>
              <a:t>VISUALIZA CÓMO SE CONECTAN Y COMUNICAN LOS MÓDULOS DEL SISTEMA.</a:t>
            </a:r>
            <a:endParaRPr b="0" lang="en-US" sz="1500" spc="-1" strike="noStrike">
              <a:solidFill>
                <a:srgbClr val="000000"/>
              </a:solidFill>
              <a:latin typeface="Arial"/>
            </a:endParaRPr>
          </a:p>
        </p:txBody>
      </p:sp>
      <p:sp>
        <p:nvSpPr>
          <p:cNvPr id="68" name="Shape 12"/>
          <p:cNvSpPr/>
          <p:nvPr/>
        </p:nvSpPr>
        <p:spPr>
          <a:xfrm>
            <a:off x="7406640" y="1554480"/>
            <a:ext cx="4205880" cy="4160160"/>
          </a:xfrm>
          <a:prstGeom prst="roundRect">
            <a:avLst>
              <a:gd name="adj" fmla="val 1758"/>
            </a:avLst>
          </a:prstGeom>
          <a:solidFill>
            <a:srgbClr val="1b2a4a"/>
          </a:solidFill>
          <a:ln w="12700">
            <a:solidFill>
              <a:srgbClr val="1b2a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9" name="Text 13"/>
          <p:cNvSpPr/>
          <p:nvPr/>
        </p:nvSpPr>
        <p:spPr>
          <a:xfrm>
            <a:off x="7726680" y="1783080"/>
            <a:ext cx="3657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50" spc="199" strike="noStrike">
                <a:solidFill>
                  <a:srgbClr val="1fa37d"/>
                </a:solidFill>
                <a:latin typeface="Calibri"/>
                <a:ea typeface="Calibri"/>
              </a:rPr>
              <a:t>PRIMER VISTAZO FORMAL</a:t>
            </a:r>
            <a:endParaRPr b="0" lang="en-US" sz="1450" spc="-1" strike="noStrike">
              <a:solidFill>
                <a:srgbClr val="000000"/>
              </a:solidFill>
              <a:latin typeface="Arial"/>
            </a:endParaRPr>
          </a:p>
        </p:txBody>
      </p:sp>
      <p:sp>
        <p:nvSpPr>
          <p:cNvPr id="70" name="Shape 14"/>
          <p:cNvSpPr/>
          <p:nvPr/>
        </p:nvSpPr>
        <p:spPr>
          <a:xfrm>
            <a:off x="8366760" y="2331720"/>
            <a:ext cx="2194200" cy="914040"/>
          </a:xfrm>
          <a:prstGeom prst="roundRect">
            <a:avLst>
              <a:gd name="adj" fmla="val 4000"/>
            </a:avLst>
          </a:prstGeom>
          <a:solidFill>
            <a:srgbClr val="121d33"/>
          </a:solidFill>
          <a:ln w="15875">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Shape 15"/>
          <p:cNvSpPr/>
          <p:nvPr/>
        </p:nvSpPr>
        <p:spPr>
          <a:xfrm>
            <a:off x="8183880" y="2496240"/>
            <a:ext cx="292320" cy="182520"/>
          </a:xfrm>
          <a:prstGeom prst="rect">
            <a:avLst/>
          </a:prstGeom>
          <a:solidFill>
            <a:srgbClr val="121d33"/>
          </a:solidFill>
          <a:ln w="15875">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Shape 16"/>
          <p:cNvSpPr/>
          <p:nvPr/>
        </p:nvSpPr>
        <p:spPr>
          <a:xfrm>
            <a:off x="8183880" y="2788920"/>
            <a:ext cx="292320" cy="182520"/>
          </a:xfrm>
          <a:prstGeom prst="rect">
            <a:avLst/>
          </a:prstGeom>
          <a:solidFill>
            <a:srgbClr val="121d33"/>
          </a:solidFill>
          <a:ln w="15875">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Text 17"/>
          <p:cNvSpPr/>
          <p:nvPr/>
        </p:nvSpPr>
        <p:spPr>
          <a:xfrm>
            <a:off x="8366760" y="2331720"/>
            <a:ext cx="219420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ffffff"/>
                </a:solidFill>
                <a:latin typeface="Calibri"/>
                <a:ea typeface="Calibri"/>
              </a:rPr>
              <a:t>«COMPONENT»</a:t>
            </a:r>
            <a:endParaRPr b="0" lang="en-US" sz="1350" spc="-1" strike="noStrike">
              <a:solidFill>
                <a:srgbClr val="000000"/>
              </a:solidFill>
              <a:latin typeface="Arial"/>
            </a:endParaRPr>
          </a:p>
          <a:p>
            <a:pPr algn="ctr" defTabSz="914400">
              <a:lnSpc>
                <a:spcPts val="1400"/>
              </a:lnSpc>
              <a:tabLst>
                <a:tab algn="l" pos="0"/>
              </a:tabLst>
            </a:pPr>
            <a:r>
              <a:rPr b="0" lang="en-US" sz="1350" spc="-1" strike="noStrike">
                <a:solidFill>
                  <a:srgbClr val="ffffff"/>
                </a:solidFill>
                <a:latin typeface="Calibri"/>
                <a:ea typeface="Calibri"/>
              </a:rPr>
              <a:t>GESTIÓN DE VENTAS</a:t>
            </a:r>
            <a:endParaRPr b="0" lang="en-US" sz="1350" spc="-1" strike="noStrike">
              <a:solidFill>
                <a:srgbClr val="000000"/>
              </a:solidFill>
              <a:latin typeface="Arial"/>
            </a:endParaRPr>
          </a:p>
        </p:txBody>
      </p:sp>
      <p:sp>
        <p:nvSpPr>
          <p:cNvPr id="74" name="Shape 18"/>
          <p:cNvSpPr/>
          <p:nvPr/>
        </p:nvSpPr>
        <p:spPr>
          <a:xfrm>
            <a:off x="9464040" y="3246120"/>
            <a:ext cx="360" cy="502920"/>
          </a:xfrm>
          <a:prstGeom prst="line">
            <a:avLst/>
          </a:prstGeom>
          <a:ln w="25400">
            <a:solidFill>
              <a:srgbClr val="1fa37d"/>
            </a:solidFill>
            <a:round/>
            <a:tailEnd len="med" type="triangle" w="me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75" name="Shape 19"/>
          <p:cNvSpPr/>
          <p:nvPr/>
        </p:nvSpPr>
        <p:spPr>
          <a:xfrm>
            <a:off x="8366760" y="3794760"/>
            <a:ext cx="2194200" cy="914040"/>
          </a:xfrm>
          <a:prstGeom prst="roundRect">
            <a:avLst>
              <a:gd name="adj" fmla="val 4000"/>
            </a:avLst>
          </a:prstGeom>
          <a:solidFill>
            <a:srgbClr val="121d33"/>
          </a:solidFill>
          <a:ln w="15875">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Shape 20"/>
          <p:cNvSpPr/>
          <p:nvPr/>
        </p:nvSpPr>
        <p:spPr>
          <a:xfrm>
            <a:off x="8183880" y="3959280"/>
            <a:ext cx="292320" cy="182520"/>
          </a:xfrm>
          <a:prstGeom prst="rect">
            <a:avLst/>
          </a:prstGeom>
          <a:solidFill>
            <a:srgbClr val="121d33"/>
          </a:solidFill>
          <a:ln w="15875">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Shape 21"/>
          <p:cNvSpPr/>
          <p:nvPr/>
        </p:nvSpPr>
        <p:spPr>
          <a:xfrm>
            <a:off x="8183880" y="4251960"/>
            <a:ext cx="292320" cy="182520"/>
          </a:xfrm>
          <a:prstGeom prst="rect">
            <a:avLst/>
          </a:prstGeom>
          <a:solidFill>
            <a:srgbClr val="121d33"/>
          </a:solidFill>
          <a:ln w="15875">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Text 22"/>
          <p:cNvSpPr/>
          <p:nvPr/>
        </p:nvSpPr>
        <p:spPr>
          <a:xfrm>
            <a:off x="8366760" y="3794760"/>
            <a:ext cx="219420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ffffff"/>
                </a:solidFill>
                <a:latin typeface="Calibri"/>
                <a:ea typeface="Calibri"/>
              </a:rPr>
              <a:t>«COMPONENT»</a:t>
            </a:r>
            <a:endParaRPr b="0" lang="en-US" sz="1350" spc="-1" strike="noStrike">
              <a:solidFill>
                <a:srgbClr val="000000"/>
              </a:solidFill>
              <a:latin typeface="Arial"/>
            </a:endParaRPr>
          </a:p>
          <a:p>
            <a:pPr algn="ctr" defTabSz="914400">
              <a:lnSpc>
                <a:spcPts val="1400"/>
              </a:lnSpc>
              <a:tabLst>
                <a:tab algn="l" pos="0"/>
              </a:tabLst>
            </a:pPr>
            <a:r>
              <a:rPr b="0" lang="en-US" sz="1350" spc="-1" strike="noStrike">
                <a:solidFill>
                  <a:srgbClr val="ffffff"/>
                </a:solidFill>
                <a:latin typeface="Calibri"/>
                <a:ea typeface="Calibri"/>
              </a:rPr>
              <a:t>BASE DE DATOS</a:t>
            </a:r>
            <a:endParaRPr b="0" lang="en-US" sz="1350" spc="-1" strike="noStrike">
              <a:solidFill>
                <a:srgbClr val="000000"/>
              </a:solidFill>
              <a:latin typeface="Arial"/>
            </a:endParaRPr>
          </a:p>
        </p:txBody>
      </p:sp>
      <p:sp>
        <p:nvSpPr>
          <p:cNvPr id="79" name="Text 23"/>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04</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80"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e8a33d"/>
                </a:solidFill>
                <a:latin typeface="Calibri"/>
                <a:ea typeface="Calibri"/>
              </a:rPr>
              <a:t>PROPÓSITO</a:t>
            </a:r>
            <a:endParaRPr b="0" lang="en-US" sz="1550" spc="-1" strike="noStrike">
              <a:solidFill>
                <a:srgbClr val="000000"/>
              </a:solidFill>
              <a:latin typeface="Arial"/>
            </a:endParaRPr>
          </a:p>
        </p:txBody>
      </p:sp>
      <p:sp>
        <p:nvSpPr>
          <p:cNvPr id="81"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400" spc="-1" strike="noStrike">
                <a:solidFill>
                  <a:srgbClr val="1b2a4a"/>
                </a:solidFill>
                <a:latin typeface="Calibri"/>
                <a:ea typeface="Calibri"/>
              </a:rPr>
              <a:t>¿PARA QUÉ SIRVE EN EL PROCESO DE DISEÑO?</a:t>
            </a:r>
            <a:endParaRPr b="0" lang="en-US" sz="3400" spc="-1" strike="noStrike">
              <a:solidFill>
                <a:srgbClr val="000000"/>
              </a:solidFill>
              <a:latin typeface="Arial"/>
            </a:endParaRPr>
          </a:p>
        </p:txBody>
      </p:sp>
      <p:sp>
        <p:nvSpPr>
          <p:cNvPr id="82" name="Shape 2"/>
          <p:cNvSpPr/>
          <p:nvPr/>
        </p:nvSpPr>
        <p:spPr>
          <a:xfrm>
            <a:off x="548640" y="1600200"/>
            <a:ext cx="5417640" cy="1782720"/>
          </a:xfrm>
          <a:prstGeom prst="roundRect">
            <a:avLst>
              <a:gd name="adj" fmla="val 3077"/>
            </a:avLst>
          </a:prstGeom>
          <a:solidFill>
            <a:srgbClr val="ffffff"/>
          </a:solidFill>
          <a:ln w="12700">
            <a:solidFill>
              <a:srgbClr val="d6dce5"/>
            </a:solidFill>
            <a:round/>
          </a:ln>
          <a:effectLst>
            <a:outerShdw algn="bl" blurRad="101520" dir="5400000" dist="38160" kx="0" ky="0" rotWithShape="0" sx="100000" sy="100000">
              <a:srgbClr val="9aa5b5">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3" name="Shape 3"/>
          <p:cNvSpPr/>
          <p:nvPr/>
        </p:nvSpPr>
        <p:spPr>
          <a:xfrm>
            <a:off x="868680" y="1892880"/>
            <a:ext cx="456840" cy="456840"/>
          </a:xfrm>
          <a:prstGeom prst="ellipse">
            <a:avLst/>
          </a:prstGeom>
          <a:solidFill>
            <a:srgbClr val="e6f5f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4" name="Text 4"/>
          <p:cNvSpPr/>
          <p:nvPr/>
        </p:nvSpPr>
        <p:spPr>
          <a:xfrm>
            <a:off x="868680" y="189288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900" spc="-1" strike="noStrike">
                <a:solidFill>
                  <a:srgbClr val="1fa37d"/>
                </a:solidFill>
                <a:latin typeface="Calibri"/>
                <a:ea typeface="Calibri"/>
              </a:rPr>
              <a:t>1</a:t>
            </a:r>
            <a:endParaRPr b="0" lang="en-US" sz="1900" spc="-1" strike="noStrike">
              <a:solidFill>
                <a:srgbClr val="000000"/>
              </a:solidFill>
              <a:latin typeface="Arial"/>
            </a:endParaRPr>
          </a:p>
        </p:txBody>
      </p:sp>
      <p:sp>
        <p:nvSpPr>
          <p:cNvPr id="85" name="Text 5"/>
          <p:cNvSpPr/>
          <p:nvPr/>
        </p:nvSpPr>
        <p:spPr>
          <a:xfrm>
            <a:off x="1508760" y="1856160"/>
            <a:ext cx="422892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50" spc="-1" strike="noStrike">
                <a:solidFill>
                  <a:srgbClr val="1b2a4a"/>
                </a:solidFill>
                <a:latin typeface="Calibri"/>
                <a:ea typeface="Calibri"/>
              </a:rPr>
              <a:t>PLANIFICAR LA ARQUITECTURA</a:t>
            </a:r>
            <a:endParaRPr b="0" lang="en-US" sz="1850" spc="-1" strike="noStrike">
              <a:solidFill>
                <a:srgbClr val="000000"/>
              </a:solidFill>
              <a:latin typeface="Arial"/>
            </a:endParaRPr>
          </a:p>
        </p:txBody>
      </p:sp>
      <p:sp>
        <p:nvSpPr>
          <p:cNvPr id="86" name="Text 6"/>
          <p:cNvSpPr/>
          <p:nvPr/>
        </p:nvSpPr>
        <p:spPr>
          <a:xfrm>
            <a:off x="868680" y="2468880"/>
            <a:ext cx="477756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450" spc="-1" strike="noStrike">
                <a:solidFill>
                  <a:srgbClr val="5b6472"/>
                </a:solidFill>
                <a:latin typeface="Calibri"/>
                <a:ea typeface="Calibri"/>
              </a:rPr>
              <a:t>DEFINE CÓMO SE DIVIDIRÁ EL SISTEMA EN MÓDULOS ANTES DE PROGRAMAR, FACILITANDO EL TRABAJO EN EQUIPO.</a:t>
            </a:r>
            <a:endParaRPr b="0" lang="en-US" sz="1450" spc="-1" strike="noStrike">
              <a:solidFill>
                <a:srgbClr val="000000"/>
              </a:solidFill>
              <a:latin typeface="Arial"/>
            </a:endParaRPr>
          </a:p>
        </p:txBody>
      </p:sp>
      <p:sp>
        <p:nvSpPr>
          <p:cNvPr id="87" name="Shape 7"/>
          <p:cNvSpPr/>
          <p:nvPr/>
        </p:nvSpPr>
        <p:spPr>
          <a:xfrm>
            <a:off x="6286680" y="1600200"/>
            <a:ext cx="5417640" cy="1782720"/>
          </a:xfrm>
          <a:prstGeom prst="roundRect">
            <a:avLst>
              <a:gd name="adj" fmla="val 3077"/>
            </a:avLst>
          </a:prstGeom>
          <a:solidFill>
            <a:srgbClr val="ffffff"/>
          </a:solidFill>
          <a:ln w="12700">
            <a:solidFill>
              <a:srgbClr val="d6dce5"/>
            </a:solidFill>
            <a:round/>
          </a:ln>
          <a:effectLst>
            <a:outerShdw algn="bl" blurRad="101520" dir="5400000" dist="38160" kx="0" ky="0" rotWithShape="0" sx="100000" sy="100000">
              <a:srgbClr val="9aa5b5">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8" name="Shape 8"/>
          <p:cNvSpPr/>
          <p:nvPr/>
        </p:nvSpPr>
        <p:spPr>
          <a:xfrm>
            <a:off x="6606720" y="1892880"/>
            <a:ext cx="456840" cy="456840"/>
          </a:xfrm>
          <a:prstGeom prst="ellipse">
            <a:avLst/>
          </a:prstGeom>
          <a:solidFill>
            <a:srgbClr val="e6f5f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9" name="Text 9"/>
          <p:cNvSpPr/>
          <p:nvPr/>
        </p:nvSpPr>
        <p:spPr>
          <a:xfrm>
            <a:off x="6606720" y="189288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900" spc="-1" strike="noStrike">
                <a:solidFill>
                  <a:srgbClr val="1fa37d"/>
                </a:solidFill>
                <a:latin typeface="Calibri"/>
                <a:ea typeface="Calibri"/>
              </a:rPr>
              <a:t>2</a:t>
            </a:r>
            <a:endParaRPr b="0" lang="en-US" sz="1900" spc="-1" strike="noStrike">
              <a:solidFill>
                <a:srgbClr val="000000"/>
              </a:solidFill>
              <a:latin typeface="Arial"/>
            </a:endParaRPr>
          </a:p>
        </p:txBody>
      </p:sp>
      <p:sp>
        <p:nvSpPr>
          <p:cNvPr id="90" name="Text 10"/>
          <p:cNvSpPr/>
          <p:nvPr/>
        </p:nvSpPr>
        <p:spPr>
          <a:xfrm>
            <a:off x="7246800" y="1856160"/>
            <a:ext cx="422892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50" spc="-1" strike="noStrike">
                <a:solidFill>
                  <a:srgbClr val="1b2a4a"/>
                </a:solidFill>
                <a:latin typeface="Calibri"/>
                <a:ea typeface="Calibri"/>
              </a:rPr>
              <a:t>GESTIONAR DEPENDENCIAS</a:t>
            </a:r>
            <a:endParaRPr b="0" lang="en-US" sz="1850" spc="-1" strike="noStrike">
              <a:solidFill>
                <a:srgbClr val="000000"/>
              </a:solidFill>
              <a:latin typeface="Arial"/>
            </a:endParaRPr>
          </a:p>
        </p:txBody>
      </p:sp>
      <p:sp>
        <p:nvSpPr>
          <p:cNvPr id="91" name="Text 11"/>
          <p:cNvSpPr/>
          <p:nvPr/>
        </p:nvSpPr>
        <p:spPr>
          <a:xfrm>
            <a:off x="6606720" y="2468880"/>
            <a:ext cx="477756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450" spc="-1" strike="noStrike">
                <a:solidFill>
                  <a:srgbClr val="5b6472"/>
                </a:solidFill>
                <a:latin typeface="Calibri"/>
                <a:ea typeface="Calibri"/>
              </a:rPr>
              <a:t>IDENTIFICA QUÉ COMPONENTES NECESITAN DE OTROS, ANTICIPANDO RIESGOS DE ACOPLAMIENTO.</a:t>
            </a:r>
            <a:endParaRPr b="0" lang="en-US" sz="1450" spc="-1" strike="noStrike">
              <a:solidFill>
                <a:srgbClr val="000000"/>
              </a:solidFill>
              <a:latin typeface="Arial"/>
            </a:endParaRPr>
          </a:p>
        </p:txBody>
      </p:sp>
      <p:sp>
        <p:nvSpPr>
          <p:cNvPr id="92" name="Shape 12"/>
          <p:cNvSpPr/>
          <p:nvPr/>
        </p:nvSpPr>
        <p:spPr>
          <a:xfrm>
            <a:off x="548640" y="3657600"/>
            <a:ext cx="5417640" cy="1782720"/>
          </a:xfrm>
          <a:prstGeom prst="roundRect">
            <a:avLst>
              <a:gd name="adj" fmla="val 3077"/>
            </a:avLst>
          </a:prstGeom>
          <a:solidFill>
            <a:srgbClr val="ffffff"/>
          </a:solidFill>
          <a:ln w="12700">
            <a:solidFill>
              <a:srgbClr val="d6dce5"/>
            </a:solidFill>
            <a:round/>
          </a:ln>
          <a:effectLst>
            <a:outerShdw algn="bl" blurRad="101520" dir="5400000" dist="38160" kx="0" ky="0" rotWithShape="0" sx="100000" sy="100000">
              <a:srgbClr val="9aa5b5">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3" name="Shape 13"/>
          <p:cNvSpPr/>
          <p:nvPr/>
        </p:nvSpPr>
        <p:spPr>
          <a:xfrm>
            <a:off x="868680" y="3950280"/>
            <a:ext cx="456840" cy="456840"/>
          </a:xfrm>
          <a:prstGeom prst="ellipse">
            <a:avLst/>
          </a:prstGeom>
          <a:solidFill>
            <a:srgbClr val="e6f5f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4" name="Text 14"/>
          <p:cNvSpPr/>
          <p:nvPr/>
        </p:nvSpPr>
        <p:spPr>
          <a:xfrm>
            <a:off x="868680" y="395028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900" spc="-1" strike="noStrike">
                <a:solidFill>
                  <a:srgbClr val="1fa37d"/>
                </a:solidFill>
                <a:latin typeface="Calibri"/>
                <a:ea typeface="Calibri"/>
              </a:rPr>
              <a:t>3</a:t>
            </a:r>
            <a:endParaRPr b="0" lang="en-US" sz="1900" spc="-1" strike="noStrike">
              <a:solidFill>
                <a:srgbClr val="000000"/>
              </a:solidFill>
              <a:latin typeface="Arial"/>
            </a:endParaRPr>
          </a:p>
        </p:txBody>
      </p:sp>
      <p:sp>
        <p:nvSpPr>
          <p:cNvPr id="95" name="Text 15"/>
          <p:cNvSpPr/>
          <p:nvPr/>
        </p:nvSpPr>
        <p:spPr>
          <a:xfrm>
            <a:off x="1508760" y="3913560"/>
            <a:ext cx="422892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50" spc="-1" strike="noStrike">
                <a:solidFill>
                  <a:srgbClr val="1b2a4a"/>
                </a:solidFill>
                <a:latin typeface="Calibri"/>
                <a:ea typeface="Calibri"/>
              </a:rPr>
              <a:t>FACILITAR LA REUTILIZACIÓN</a:t>
            </a:r>
            <a:endParaRPr b="0" lang="en-US" sz="1850" spc="-1" strike="noStrike">
              <a:solidFill>
                <a:srgbClr val="000000"/>
              </a:solidFill>
              <a:latin typeface="Arial"/>
            </a:endParaRPr>
          </a:p>
        </p:txBody>
      </p:sp>
      <p:sp>
        <p:nvSpPr>
          <p:cNvPr id="96" name="Text 16"/>
          <p:cNvSpPr/>
          <p:nvPr/>
        </p:nvSpPr>
        <p:spPr>
          <a:xfrm>
            <a:off x="868680" y="4526280"/>
            <a:ext cx="477756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450" spc="-1" strike="noStrike">
                <a:solidFill>
                  <a:srgbClr val="5b6472"/>
                </a:solidFill>
                <a:latin typeface="Calibri"/>
                <a:ea typeface="Calibri"/>
              </a:rPr>
              <a:t>LOS COMPONENTES CON INTERFACES CLARAS PUEDEN REUTILIZARSE EN OTROS PROYECTOS O CAPAS.</a:t>
            </a:r>
            <a:endParaRPr b="0" lang="en-US" sz="1450" spc="-1" strike="noStrike">
              <a:solidFill>
                <a:srgbClr val="000000"/>
              </a:solidFill>
              <a:latin typeface="Arial"/>
            </a:endParaRPr>
          </a:p>
        </p:txBody>
      </p:sp>
      <p:sp>
        <p:nvSpPr>
          <p:cNvPr id="97" name="Shape 17"/>
          <p:cNvSpPr/>
          <p:nvPr/>
        </p:nvSpPr>
        <p:spPr>
          <a:xfrm>
            <a:off x="6286680" y="3657600"/>
            <a:ext cx="5417640" cy="1782720"/>
          </a:xfrm>
          <a:prstGeom prst="roundRect">
            <a:avLst>
              <a:gd name="adj" fmla="val 3077"/>
            </a:avLst>
          </a:prstGeom>
          <a:solidFill>
            <a:srgbClr val="ffffff"/>
          </a:solidFill>
          <a:ln w="12700">
            <a:solidFill>
              <a:srgbClr val="d6dce5"/>
            </a:solidFill>
            <a:round/>
          </a:ln>
          <a:effectLst>
            <a:outerShdw algn="bl" blurRad="101520" dir="5400000" dist="38160" kx="0" ky="0" rotWithShape="0" sx="100000" sy="100000">
              <a:srgbClr val="9aa5b5">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8" name="Shape 18"/>
          <p:cNvSpPr/>
          <p:nvPr/>
        </p:nvSpPr>
        <p:spPr>
          <a:xfrm>
            <a:off x="6606720" y="3950280"/>
            <a:ext cx="456840" cy="456840"/>
          </a:xfrm>
          <a:prstGeom prst="ellipse">
            <a:avLst/>
          </a:prstGeom>
          <a:solidFill>
            <a:srgbClr val="e6f5f0"/>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 name="Text 19"/>
          <p:cNvSpPr/>
          <p:nvPr/>
        </p:nvSpPr>
        <p:spPr>
          <a:xfrm>
            <a:off x="6606720" y="3950280"/>
            <a:ext cx="4568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900" spc="-1" strike="noStrike">
                <a:solidFill>
                  <a:srgbClr val="1fa37d"/>
                </a:solidFill>
                <a:latin typeface="Calibri"/>
                <a:ea typeface="Calibri"/>
              </a:rPr>
              <a:t>4</a:t>
            </a:r>
            <a:endParaRPr b="0" lang="en-US" sz="1900" spc="-1" strike="noStrike">
              <a:solidFill>
                <a:srgbClr val="000000"/>
              </a:solidFill>
              <a:latin typeface="Arial"/>
            </a:endParaRPr>
          </a:p>
        </p:txBody>
      </p:sp>
      <p:sp>
        <p:nvSpPr>
          <p:cNvPr id="100" name="Text 20"/>
          <p:cNvSpPr/>
          <p:nvPr/>
        </p:nvSpPr>
        <p:spPr>
          <a:xfrm>
            <a:off x="7246800" y="3913560"/>
            <a:ext cx="422892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50" spc="-1" strike="noStrike">
                <a:solidFill>
                  <a:srgbClr val="1b2a4a"/>
                </a:solidFill>
                <a:latin typeface="Calibri"/>
                <a:ea typeface="Calibri"/>
              </a:rPr>
              <a:t>APOYAR EL DESPLIEGUE</a:t>
            </a:r>
            <a:endParaRPr b="0" lang="en-US" sz="1850" spc="-1" strike="noStrike">
              <a:solidFill>
                <a:srgbClr val="000000"/>
              </a:solidFill>
              <a:latin typeface="Arial"/>
            </a:endParaRPr>
          </a:p>
        </p:txBody>
      </p:sp>
      <p:sp>
        <p:nvSpPr>
          <p:cNvPr id="101" name="Text 21"/>
          <p:cNvSpPr/>
          <p:nvPr/>
        </p:nvSpPr>
        <p:spPr>
          <a:xfrm>
            <a:off x="6606720" y="4526280"/>
            <a:ext cx="477756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450" spc="-1" strike="noStrike">
                <a:solidFill>
                  <a:srgbClr val="5b6472"/>
                </a:solidFill>
                <a:latin typeface="Calibri"/>
                <a:ea typeface="Calibri"/>
              </a:rPr>
              <a:t>SIRVE DE BASE PARA EL DIAGRAMA DE DESPLIEGUE: QUÉ SE INSTALA Y DÓNDE SE EJECUTA.</a:t>
            </a:r>
            <a:endParaRPr b="0" lang="en-US" sz="1450" spc="-1" strike="noStrike">
              <a:solidFill>
                <a:srgbClr val="000000"/>
              </a:solidFill>
              <a:latin typeface="Arial"/>
            </a:endParaRPr>
          </a:p>
        </p:txBody>
      </p:sp>
      <p:sp>
        <p:nvSpPr>
          <p:cNvPr id="102" name="Text 22"/>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05</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03"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NOTACIÓN UML</a:t>
            </a:r>
            <a:endParaRPr b="0" lang="en-US" sz="1550" spc="-1" strike="noStrike">
              <a:solidFill>
                <a:srgbClr val="000000"/>
              </a:solidFill>
              <a:latin typeface="Arial"/>
            </a:endParaRPr>
          </a:p>
        </p:txBody>
      </p:sp>
      <p:sp>
        <p:nvSpPr>
          <p:cNvPr id="104"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400" spc="-1" strike="noStrike">
                <a:solidFill>
                  <a:srgbClr val="1b2a4a"/>
                </a:solidFill>
                <a:latin typeface="Calibri"/>
                <a:ea typeface="Calibri"/>
              </a:rPr>
              <a:t>ELEMENTOS PRINCIPALES DE LA NOTACIÓN</a:t>
            </a:r>
            <a:endParaRPr b="0" lang="en-US" sz="3400" spc="-1" strike="noStrike">
              <a:solidFill>
                <a:srgbClr val="000000"/>
              </a:solidFill>
              <a:latin typeface="Arial"/>
            </a:endParaRPr>
          </a:p>
        </p:txBody>
      </p:sp>
      <p:sp>
        <p:nvSpPr>
          <p:cNvPr id="105" name="Text 2"/>
          <p:cNvSpPr/>
          <p:nvPr/>
        </p:nvSpPr>
        <p:spPr>
          <a:xfrm>
            <a:off x="548640" y="1627560"/>
            <a:ext cx="27428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1b2a4a"/>
                </a:solidFill>
                <a:latin typeface="Calibri"/>
                <a:ea typeface="Calibri"/>
              </a:rPr>
              <a:t>COMPONENTE</a:t>
            </a:r>
            <a:endParaRPr b="0" lang="en-US" sz="1700" spc="-1" strike="noStrike">
              <a:solidFill>
                <a:srgbClr val="000000"/>
              </a:solidFill>
              <a:latin typeface="Arial"/>
            </a:endParaRPr>
          </a:p>
        </p:txBody>
      </p:sp>
      <p:sp>
        <p:nvSpPr>
          <p:cNvPr id="106" name="Text 3"/>
          <p:cNvSpPr/>
          <p:nvPr/>
        </p:nvSpPr>
        <p:spPr>
          <a:xfrm>
            <a:off x="3429000" y="1627560"/>
            <a:ext cx="81835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5b6472"/>
                </a:solidFill>
                <a:latin typeface="Calibri"/>
                <a:ea typeface="Calibri"/>
              </a:rPr>
              <a:t>RECTÁNGULO CON EL ESTEREOTIPO «COMPONENT» Y, OPCIONALMENTE, EL ÍCONO DE CONECTOR EN LA ESQUINA.</a:t>
            </a:r>
            <a:endParaRPr b="0" lang="en-US" sz="1500" spc="-1" strike="noStrike">
              <a:solidFill>
                <a:srgbClr val="000000"/>
              </a:solidFill>
              <a:latin typeface="Arial"/>
            </a:endParaRPr>
          </a:p>
        </p:txBody>
      </p:sp>
      <p:sp>
        <p:nvSpPr>
          <p:cNvPr id="107" name="Shape 4"/>
          <p:cNvSpPr/>
          <p:nvPr/>
        </p:nvSpPr>
        <p:spPr>
          <a:xfrm>
            <a:off x="548640" y="2267640"/>
            <a:ext cx="11064240" cy="360"/>
          </a:xfrm>
          <a:prstGeom prst="line">
            <a:avLst/>
          </a:prstGeom>
          <a:ln w="9525">
            <a:solidFill>
              <a:srgbClr val="d6dc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08" name="Text 5"/>
          <p:cNvSpPr/>
          <p:nvPr/>
        </p:nvSpPr>
        <p:spPr>
          <a:xfrm>
            <a:off x="548640" y="2340720"/>
            <a:ext cx="27428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1b2a4a"/>
                </a:solidFill>
                <a:latin typeface="Calibri"/>
                <a:ea typeface="Calibri"/>
              </a:rPr>
              <a:t>INTERFAZ PROVISTA</a:t>
            </a:r>
            <a:endParaRPr b="0" lang="en-US" sz="1700" spc="-1" strike="noStrike">
              <a:solidFill>
                <a:srgbClr val="000000"/>
              </a:solidFill>
              <a:latin typeface="Arial"/>
            </a:endParaRPr>
          </a:p>
        </p:txBody>
      </p:sp>
      <p:sp>
        <p:nvSpPr>
          <p:cNvPr id="109" name="Text 6"/>
          <p:cNvSpPr/>
          <p:nvPr/>
        </p:nvSpPr>
        <p:spPr>
          <a:xfrm>
            <a:off x="3429000" y="2340720"/>
            <a:ext cx="81835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5b6472"/>
                </a:solidFill>
                <a:latin typeface="Calibri"/>
                <a:ea typeface="Calibri"/>
              </a:rPr>
              <a:t>CÍRCULO ("LOLLIPOP") — FUNCIONALIDAD QUE EL COMPONENTE OFRECE A OTROS.</a:t>
            </a:r>
            <a:endParaRPr b="0" lang="en-US" sz="1500" spc="-1" strike="noStrike">
              <a:solidFill>
                <a:srgbClr val="000000"/>
              </a:solidFill>
              <a:latin typeface="Arial"/>
            </a:endParaRPr>
          </a:p>
        </p:txBody>
      </p:sp>
      <p:sp>
        <p:nvSpPr>
          <p:cNvPr id="110" name="Shape 7"/>
          <p:cNvSpPr/>
          <p:nvPr/>
        </p:nvSpPr>
        <p:spPr>
          <a:xfrm>
            <a:off x="548640" y="2980800"/>
            <a:ext cx="11064240" cy="360"/>
          </a:xfrm>
          <a:prstGeom prst="line">
            <a:avLst/>
          </a:prstGeom>
          <a:ln w="9525">
            <a:solidFill>
              <a:srgbClr val="d6dc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1" name="Text 8"/>
          <p:cNvSpPr/>
          <p:nvPr/>
        </p:nvSpPr>
        <p:spPr>
          <a:xfrm>
            <a:off x="548640" y="3054240"/>
            <a:ext cx="27428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1b2a4a"/>
                </a:solidFill>
                <a:latin typeface="Calibri"/>
                <a:ea typeface="Calibri"/>
              </a:rPr>
              <a:t>INTERFAZ REQUERIDA</a:t>
            </a:r>
            <a:endParaRPr b="0" lang="en-US" sz="1700" spc="-1" strike="noStrike">
              <a:solidFill>
                <a:srgbClr val="000000"/>
              </a:solidFill>
              <a:latin typeface="Arial"/>
            </a:endParaRPr>
          </a:p>
        </p:txBody>
      </p:sp>
      <p:sp>
        <p:nvSpPr>
          <p:cNvPr id="112" name="Text 9"/>
          <p:cNvSpPr/>
          <p:nvPr/>
        </p:nvSpPr>
        <p:spPr>
          <a:xfrm>
            <a:off x="3429000" y="3054240"/>
            <a:ext cx="81835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5b6472"/>
                </a:solidFill>
                <a:latin typeface="Calibri"/>
                <a:ea typeface="Calibri"/>
              </a:rPr>
              <a:t>SEMICÍRCULO ABIERTO ("SOCKET") — FUNCIONALIDAD QUE EL COMPONENTE NECESITA PARA OPERAR.</a:t>
            </a:r>
            <a:endParaRPr b="0" lang="en-US" sz="1500" spc="-1" strike="noStrike">
              <a:solidFill>
                <a:srgbClr val="000000"/>
              </a:solidFill>
              <a:latin typeface="Arial"/>
            </a:endParaRPr>
          </a:p>
        </p:txBody>
      </p:sp>
      <p:sp>
        <p:nvSpPr>
          <p:cNvPr id="113" name="Shape 10"/>
          <p:cNvSpPr/>
          <p:nvPr/>
        </p:nvSpPr>
        <p:spPr>
          <a:xfrm>
            <a:off x="548640" y="3693960"/>
            <a:ext cx="11064240" cy="360"/>
          </a:xfrm>
          <a:prstGeom prst="line">
            <a:avLst/>
          </a:prstGeom>
          <a:ln w="9525">
            <a:solidFill>
              <a:srgbClr val="d6dc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4" name="Text 11"/>
          <p:cNvSpPr/>
          <p:nvPr/>
        </p:nvSpPr>
        <p:spPr>
          <a:xfrm>
            <a:off x="548640" y="3767400"/>
            <a:ext cx="27428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1b2a4a"/>
                </a:solidFill>
                <a:latin typeface="Calibri"/>
                <a:ea typeface="Calibri"/>
              </a:rPr>
              <a:t>PUERTO</a:t>
            </a:r>
            <a:endParaRPr b="0" lang="en-US" sz="1700" spc="-1" strike="noStrike">
              <a:solidFill>
                <a:srgbClr val="000000"/>
              </a:solidFill>
              <a:latin typeface="Arial"/>
            </a:endParaRPr>
          </a:p>
        </p:txBody>
      </p:sp>
      <p:sp>
        <p:nvSpPr>
          <p:cNvPr id="115" name="Text 12"/>
          <p:cNvSpPr/>
          <p:nvPr/>
        </p:nvSpPr>
        <p:spPr>
          <a:xfrm>
            <a:off x="3429000" y="3767400"/>
            <a:ext cx="81835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5b6472"/>
                </a:solidFill>
                <a:latin typeface="Calibri"/>
                <a:ea typeface="Calibri"/>
              </a:rPr>
              <a:t>PEQUEÑO CUADRADO EN EL BORDE DEL COMPONENTE; PUNTO DE INTERACCIÓN CON EL ENTORNO.</a:t>
            </a:r>
            <a:endParaRPr b="0" lang="en-US" sz="1500" spc="-1" strike="noStrike">
              <a:solidFill>
                <a:srgbClr val="000000"/>
              </a:solidFill>
              <a:latin typeface="Arial"/>
            </a:endParaRPr>
          </a:p>
        </p:txBody>
      </p:sp>
      <p:sp>
        <p:nvSpPr>
          <p:cNvPr id="116" name="Shape 13"/>
          <p:cNvSpPr/>
          <p:nvPr/>
        </p:nvSpPr>
        <p:spPr>
          <a:xfrm>
            <a:off x="548640" y="4407120"/>
            <a:ext cx="11064240" cy="360"/>
          </a:xfrm>
          <a:prstGeom prst="line">
            <a:avLst/>
          </a:prstGeom>
          <a:ln w="9525">
            <a:solidFill>
              <a:srgbClr val="d6dc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17" name="Text 14"/>
          <p:cNvSpPr/>
          <p:nvPr/>
        </p:nvSpPr>
        <p:spPr>
          <a:xfrm>
            <a:off x="548640" y="4480560"/>
            <a:ext cx="27428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1b2a4a"/>
                </a:solidFill>
                <a:latin typeface="Calibri"/>
                <a:ea typeface="Calibri"/>
              </a:rPr>
              <a:t>DEPENDENCIA</a:t>
            </a:r>
            <a:endParaRPr b="0" lang="en-US" sz="1700" spc="-1" strike="noStrike">
              <a:solidFill>
                <a:srgbClr val="000000"/>
              </a:solidFill>
              <a:latin typeface="Arial"/>
            </a:endParaRPr>
          </a:p>
        </p:txBody>
      </p:sp>
      <p:sp>
        <p:nvSpPr>
          <p:cNvPr id="118" name="Text 15"/>
          <p:cNvSpPr/>
          <p:nvPr/>
        </p:nvSpPr>
        <p:spPr>
          <a:xfrm>
            <a:off x="3429000" y="4480560"/>
            <a:ext cx="81835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5b6472"/>
                </a:solidFill>
                <a:latin typeface="Calibri"/>
                <a:ea typeface="Calibri"/>
              </a:rPr>
              <a:t>LÍNEA PUNTEADA CON FLECHA; INDICA QUE UN ELEMENTO DEPENDE DE OTRO.</a:t>
            </a:r>
            <a:endParaRPr b="0" lang="en-US" sz="1500" spc="-1" strike="noStrike">
              <a:solidFill>
                <a:srgbClr val="000000"/>
              </a:solidFill>
              <a:latin typeface="Arial"/>
            </a:endParaRPr>
          </a:p>
        </p:txBody>
      </p:sp>
      <p:sp>
        <p:nvSpPr>
          <p:cNvPr id="119" name="Shape 16"/>
          <p:cNvSpPr/>
          <p:nvPr/>
        </p:nvSpPr>
        <p:spPr>
          <a:xfrm>
            <a:off x="548640" y="5120640"/>
            <a:ext cx="11064240" cy="360"/>
          </a:xfrm>
          <a:prstGeom prst="line">
            <a:avLst/>
          </a:prstGeom>
          <a:ln w="9525">
            <a:solidFill>
              <a:srgbClr val="d6dc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20" name="Text 17"/>
          <p:cNvSpPr/>
          <p:nvPr/>
        </p:nvSpPr>
        <p:spPr>
          <a:xfrm>
            <a:off x="548640" y="5193720"/>
            <a:ext cx="27428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1b2a4a"/>
                </a:solidFill>
                <a:latin typeface="Calibri"/>
                <a:ea typeface="Calibri"/>
              </a:rPr>
              <a:t>CONECTOR DE ENSAMBLAJE</a:t>
            </a:r>
            <a:endParaRPr b="0" lang="en-US" sz="1700" spc="-1" strike="noStrike">
              <a:solidFill>
                <a:srgbClr val="000000"/>
              </a:solidFill>
              <a:latin typeface="Arial"/>
            </a:endParaRPr>
          </a:p>
        </p:txBody>
      </p:sp>
      <p:sp>
        <p:nvSpPr>
          <p:cNvPr id="121" name="Text 18"/>
          <p:cNvSpPr/>
          <p:nvPr/>
        </p:nvSpPr>
        <p:spPr>
          <a:xfrm>
            <a:off x="3429000" y="5193720"/>
            <a:ext cx="818352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5b6472"/>
                </a:solidFill>
                <a:latin typeface="Calibri"/>
                <a:ea typeface="Calibri"/>
              </a:rPr>
              <a:t>UNE UNA INTERFAZ REQUERIDA CON UNA PROVISTA COMPATIBLE ENTRE DOS COMPONENTES.</a:t>
            </a:r>
            <a:endParaRPr b="0" lang="en-US" sz="1500" spc="-1" strike="noStrike">
              <a:solidFill>
                <a:srgbClr val="000000"/>
              </a:solidFill>
              <a:latin typeface="Arial"/>
            </a:endParaRPr>
          </a:p>
        </p:txBody>
      </p:sp>
      <p:sp>
        <p:nvSpPr>
          <p:cNvPr id="122" name="Text 19"/>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06</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d33"/>
        </a:solidFill>
      </p:bgPr>
    </p:bg>
    <p:spTree>
      <p:nvGrpSpPr>
        <p:cNvPr id="1" name=""/>
        <p:cNvGrpSpPr/>
        <p:nvPr/>
      </p:nvGrpSpPr>
      <p:grpSpPr>
        <a:xfrm>
          <a:off x="0" y="0"/>
          <a:ext cx="0" cy="0"/>
          <a:chOff x="0" y="0"/>
          <a:chExt cx="0" cy="0"/>
        </a:xfrm>
      </p:grpSpPr>
      <p:sp>
        <p:nvSpPr>
          <p:cNvPr id="123" name="Text 0"/>
          <p:cNvSpPr/>
          <p:nvPr/>
        </p:nvSpPr>
        <p:spPr>
          <a:xfrm>
            <a:off x="548640" y="384120"/>
            <a:ext cx="5486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EJEMPLO</a:t>
            </a:r>
            <a:endParaRPr b="0" lang="en-US" sz="1550" spc="-1" strike="noStrike">
              <a:solidFill>
                <a:srgbClr val="ffffff"/>
              </a:solidFill>
              <a:latin typeface="Arial"/>
            </a:endParaRPr>
          </a:p>
        </p:txBody>
      </p:sp>
      <p:sp>
        <p:nvSpPr>
          <p:cNvPr id="124" name="Text 1"/>
          <p:cNvSpPr/>
          <p:nvPr/>
        </p:nvSpPr>
        <p:spPr>
          <a:xfrm>
            <a:off x="548640" y="685800"/>
            <a:ext cx="107895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ffffff"/>
                </a:solidFill>
                <a:latin typeface="Calibri"/>
                <a:ea typeface="Calibri"/>
              </a:rPr>
              <a:t>SISTEMA DE VENTAS — VISTA DE COMPONENTES</a:t>
            </a:r>
            <a:endParaRPr b="0" lang="en-US" sz="3000" spc="-1" strike="noStrike">
              <a:solidFill>
                <a:srgbClr val="ffffff"/>
              </a:solidFill>
              <a:latin typeface="Arial"/>
            </a:endParaRPr>
          </a:p>
        </p:txBody>
      </p:sp>
      <p:sp>
        <p:nvSpPr>
          <p:cNvPr id="125" name="Shape 2"/>
          <p:cNvSpPr/>
          <p:nvPr/>
        </p:nvSpPr>
        <p:spPr>
          <a:xfrm>
            <a:off x="822960" y="2377440"/>
            <a:ext cx="2285640" cy="914040"/>
          </a:xfrm>
          <a:prstGeom prst="roundRect">
            <a:avLst>
              <a:gd name="adj" fmla="val 5000"/>
            </a:avLst>
          </a:prstGeom>
          <a:solidFill>
            <a:srgbClr val="1b2a4a"/>
          </a:solidFill>
          <a:ln w="1905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Shape 3"/>
          <p:cNvSpPr/>
          <p:nvPr/>
        </p:nvSpPr>
        <p:spPr>
          <a:xfrm>
            <a:off x="658440" y="2514600"/>
            <a:ext cx="273960" cy="164160"/>
          </a:xfrm>
          <a:prstGeom prst="rect">
            <a:avLst/>
          </a:prstGeom>
          <a:solidFill>
            <a:srgbClr val="121d33"/>
          </a:solidFill>
          <a:ln w="15875">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Shape 4"/>
          <p:cNvSpPr/>
          <p:nvPr/>
        </p:nvSpPr>
        <p:spPr>
          <a:xfrm>
            <a:off x="658440" y="2788920"/>
            <a:ext cx="273960" cy="164160"/>
          </a:xfrm>
          <a:prstGeom prst="rect">
            <a:avLst/>
          </a:prstGeom>
          <a:solidFill>
            <a:srgbClr val="121d33"/>
          </a:solidFill>
          <a:ln w="15875">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5"/>
          <p:cNvSpPr/>
          <p:nvPr/>
        </p:nvSpPr>
        <p:spPr>
          <a:xfrm>
            <a:off x="822960" y="2377440"/>
            <a:ext cx="228564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599"/>
              </a:lnSpc>
              <a:tabLst>
                <a:tab algn="l" pos="0"/>
              </a:tabLst>
            </a:pPr>
            <a:r>
              <a:rPr b="0" lang="en-US" sz="1500" spc="-1" strike="noStrike">
                <a:solidFill>
                  <a:srgbClr val="ffffff"/>
                </a:solidFill>
                <a:latin typeface="Calibri"/>
                <a:ea typeface="Calibri"/>
              </a:rPr>
              <a:t>«COMPONENT»</a:t>
            </a:r>
            <a:endParaRPr b="0" lang="en-US" sz="1500" spc="-1" strike="noStrike">
              <a:solidFill>
                <a:srgbClr val="ffffff"/>
              </a:solidFill>
              <a:latin typeface="Arial"/>
            </a:endParaRPr>
          </a:p>
          <a:p>
            <a:pPr algn="ctr" defTabSz="914400">
              <a:lnSpc>
                <a:spcPts val="1599"/>
              </a:lnSpc>
              <a:tabLst>
                <a:tab algn="l" pos="0"/>
              </a:tabLst>
            </a:pPr>
            <a:r>
              <a:rPr b="0" lang="en-US" sz="1500" spc="-1" strike="noStrike">
                <a:solidFill>
                  <a:srgbClr val="ffffff"/>
                </a:solidFill>
                <a:latin typeface="Calibri"/>
                <a:ea typeface="Calibri"/>
              </a:rPr>
              <a:t>INTERFAZWEB</a:t>
            </a:r>
            <a:endParaRPr b="0" lang="en-US" sz="1500" spc="-1" strike="noStrike">
              <a:solidFill>
                <a:srgbClr val="ffffff"/>
              </a:solidFill>
              <a:latin typeface="Arial"/>
            </a:endParaRPr>
          </a:p>
        </p:txBody>
      </p:sp>
      <p:sp>
        <p:nvSpPr>
          <p:cNvPr id="129" name="Shape 6"/>
          <p:cNvSpPr/>
          <p:nvPr/>
        </p:nvSpPr>
        <p:spPr>
          <a:xfrm>
            <a:off x="4206240" y="2377440"/>
            <a:ext cx="2468520" cy="914040"/>
          </a:xfrm>
          <a:prstGeom prst="roundRect">
            <a:avLst>
              <a:gd name="adj" fmla="val 5000"/>
            </a:avLst>
          </a:prstGeom>
          <a:solidFill>
            <a:srgbClr val="1b2a4a"/>
          </a:solidFill>
          <a:ln w="1905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0" name="Shape 7"/>
          <p:cNvSpPr/>
          <p:nvPr/>
        </p:nvSpPr>
        <p:spPr>
          <a:xfrm>
            <a:off x="4041720" y="2514600"/>
            <a:ext cx="273960" cy="164160"/>
          </a:xfrm>
          <a:prstGeom prst="rect">
            <a:avLst/>
          </a:prstGeom>
          <a:solidFill>
            <a:srgbClr val="121d33"/>
          </a:solidFill>
          <a:ln w="15875">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1" name="Shape 8"/>
          <p:cNvSpPr/>
          <p:nvPr/>
        </p:nvSpPr>
        <p:spPr>
          <a:xfrm>
            <a:off x="4041720" y="2788920"/>
            <a:ext cx="273960" cy="164160"/>
          </a:xfrm>
          <a:prstGeom prst="rect">
            <a:avLst/>
          </a:prstGeom>
          <a:solidFill>
            <a:srgbClr val="121d33"/>
          </a:solidFill>
          <a:ln w="15875">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Text 9"/>
          <p:cNvSpPr/>
          <p:nvPr/>
        </p:nvSpPr>
        <p:spPr>
          <a:xfrm>
            <a:off x="4206240" y="2377440"/>
            <a:ext cx="246852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599"/>
              </a:lnSpc>
              <a:tabLst>
                <a:tab algn="l" pos="0"/>
              </a:tabLst>
            </a:pPr>
            <a:r>
              <a:rPr b="0" lang="en-US" sz="1500" spc="-1" strike="noStrike">
                <a:solidFill>
                  <a:srgbClr val="ffffff"/>
                </a:solidFill>
                <a:latin typeface="Calibri"/>
                <a:ea typeface="Calibri"/>
              </a:rPr>
              <a:t>«COMPONENT»</a:t>
            </a:r>
            <a:endParaRPr b="0" lang="en-US" sz="1500" spc="-1" strike="noStrike">
              <a:solidFill>
                <a:srgbClr val="ffffff"/>
              </a:solidFill>
              <a:latin typeface="Arial"/>
            </a:endParaRPr>
          </a:p>
          <a:p>
            <a:pPr algn="ctr" defTabSz="914400">
              <a:lnSpc>
                <a:spcPts val="1599"/>
              </a:lnSpc>
              <a:tabLst>
                <a:tab algn="l" pos="0"/>
              </a:tabLst>
            </a:pPr>
            <a:r>
              <a:rPr b="0" lang="en-US" sz="1500" spc="-1" strike="noStrike">
                <a:solidFill>
                  <a:srgbClr val="ffffff"/>
                </a:solidFill>
                <a:latin typeface="Calibri"/>
                <a:ea typeface="Calibri"/>
              </a:rPr>
              <a:t>GESTORVENTAS</a:t>
            </a:r>
            <a:endParaRPr b="0" lang="en-US" sz="1500" spc="-1" strike="noStrike">
              <a:solidFill>
                <a:srgbClr val="ffffff"/>
              </a:solidFill>
              <a:latin typeface="Arial"/>
            </a:endParaRPr>
          </a:p>
        </p:txBody>
      </p:sp>
      <p:sp>
        <p:nvSpPr>
          <p:cNvPr id="133" name="Shape 10"/>
          <p:cNvSpPr/>
          <p:nvPr/>
        </p:nvSpPr>
        <p:spPr>
          <a:xfrm>
            <a:off x="4206240" y="4206240"/>
            <a:ext cx="2468520" cy="914040"/>
          </a:xfrm>
          <a:prstGeom prst="roundRect">
            <a:avLst>
              <a:gd name="adj" fmla="val 5000"/>
            </a:avLst>
          </a:prstGeom>
          <a:solidFill>
            <a:srgbClr val="1b2a4a"/>
          </a:solidFill>
          <a:ln w="1905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Shape 11"/>
          <p:cNvSpPr/>
          <p:nvPr/>
        </p:nvSpPr>
        <p:spPr>
          <a:xfrm>
            <a:off x="4041720" y="4343400"/>
            <a:ext cx="273960" cy="164160"/>
          </a:xfrm>
          <a:prstGeom prst="rect">
            <a:avLst/>
          </a:prstGeom>
          <a:solidFill>
            <a:srgbClr val="121d33"/>
          </a:solidFill>
          <a:ln w="15875">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5" name="Shape 12"/>
          <p:cNvSpPr/>
          <p:nvPr/>
        </p:nvSpPr>
        <p:spPr>
          <a:xfrm>
            <a:off x="4041720" y="4617720"/>
            <a:ext cx="273960" cy="164160"/>
          </a:xfrm>
          <a:prstGeom prst="rect">
            <a:avLst/>
          </a:prstGeom>
          <a:solidFill>
            <a:srgbClr val="121d33"/>
          </a:solidFill>
          <a:ln w="15875">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Text 13"/>
          <p:cNvSpPr/>
          <p:nvPr/>
        </p:nvSpPr>
        <p:spPr>
          <a:xfrm>
            <a:off x="4206240" y="4206240"/>
            <a:ext cx="246852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599"/>
              </a:lnSpc>
              <a:tabLst>
                <a:tab algn="l" pos="0"/>
              </a:tabLst>
            </a:pPr>
            <a:r>
              <a:rPr b="0" lang="en-US" sz="1500" spc="-1" strike="noStrike">
                <a:solidFill>
                  <a:srgbClr val="ffffff"/>
                </a:solidFill>
                <a:latin typeface="Calibri"/>
                <a:ea typeface="Calibri"/>
              </a:rPr>
              <a:t>«COMPONENT»</a:t>
            </a:r>
            <a:endParaRPr b="0" lang="en-US" sz="1500" spc="-1" strike="noStrike">
              <a:solidFill>
                <a:srgbClr val="ffffff"/>
              </a:solidFill>
              <a:latin typeface="Arial"/>
            </a:endParaRPr>
          </a:p>
          <a:p>
            <a:pPr algn="ctr" defTabSz="914400">
              <a:lnSpc>
                <a:spcPts val="1599"/>
              </a:lnSpc>
              <a:tabLst>
                <a:tab algn="l" pos="0"/>
              </a:tabLst>
            </a:pPr>
            <a:r>
              <a:rPr b="0" lang="en-US" sz="1500" spc="-1" strike="noStrike">
                <a:solidFill>
                  <a:srgbClr val="ffffff"/>
                </a:solidFill>
                <a:latin typeface="Calibri"/>
                <a:ea typeface="Calibri"/>
              </a:rPr>
              <a:t>GESTORINVENTARIO</a:t>
            </a:r>
            <a:endParaRPr b="0" lang="en-US" sz="1500" spc="-1" strike="noStrike">
              <a:solidFill>
                <a:srgbClr val="ffffff"/>
              </a:solidFill>
              <a:latin typeface="Arial"/>
            </a:endParaRPr>
          </a:p>
        </p:txBody>
      </p:sp>
      <p:sp>
        <p:nvSpPr>
          <p:cNvPr id="137" name="Shape 14"/>
          <p:cNvSpPr/>
          <p:nvPr/>
        </p:nvSpPr>
        <p:spPr>
          <a:xfrm>
            <a:off x="7772400" y="3291840"/>
            <a:ext cx="2377080" cy="914040"/>
          </a:xfrm>
          <a:prstGeom prst="roundRect">
            <a:avLst>
              <a:gd name="adj" fmla="val 5000"/>
            </a:avLst>
          </a:prstGeom>
          <a:solidFill>
            <a:srgbClr val="1b2a4a"/>
          </a:solidFill>
          <a:ln w="19050">
            <a:solidFill>
              <a:srgbClr val="7fb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8" name="Shape 15"/>
          <p:cNvSpPr/>
          <p:nvPr/>
        </p:nvSpPr>
        <p:spPr>
          <a:xfrm>
            <a:off x="7607880" y="3429000"/>
            <a:ext cx="273960" cy="164160"/>
          </a:xfrm>
          <a:prstGeom prst="rect">
            <a:avLst/>
          </a:prstGeom>
          <a:solidFill>
            <a:srgbClr val="121d33"/>
          </a:solidFill>
          <a:ln w="15875">
            <a:solidFill>
              <a:srgbClr val="7fb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Shape 16"/>
          <p:cNvSpPr/>
          <p:nvPr/>
        </p:nvSpPr>
        <p:spPr>
          <a:xfrm>
            <a:off x="7607880" y="3703320"/>
            <a:ext cx="273960" cy="164160"/>
          </a:xfrm>
          <a:prstGeom prst="rect">
            <a:avLst/>
          </a:prstGeom>
          <a:solidFill>
            <a:srgbClr val="121d33"/>
          </a:solidFill>
          <a:ln w="15875">
            <a:solidFill>
              <a:srgbClr val="7fb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Text 17"/>
          <p:cNvSpPr/>
          <p:nvPr/>
        </p:nvSpPr>
        <p:spPr>
          <a:xfrm>
            <a:off x="7772400" y="3291840"/>
            <a:ext cx="2377080" cy="914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599"/>
              </a:lnSpc>
              <a:tabLst>
                <a:tab algn="l" pos="0"/>
              </a:tabLst>
            </a:pPr>
            <a:r>
              <a:rPr b="0" lang="en-US" sz="1500" spc="-1" strike="noStrike">
                <a:solidFill>
                  <a:srgbClr val="ffffff"/>
                </a:solidFill>
                <a:latin typeface="Calibri"/>
                <a:ea typeface="Calibri"/>
              </a:rPr>
              <a:t>«COMPONENT»</a:t>
            </a:r>
            <a:endParaRPr b="0" lang="en-US" sz="1500" spc="-1" strike="noStrike">
              <a:solidFill>
                <a:srgbClr val="ffffff"/>
              </a:solidFill>
              <a:latin typeface="Arial"/>
            </a:endParaRPr>
          </a:p>
          <a:p>
            <a:pPr algn="ctr" defTabSz="914400">
              <a:lnSpc>
                <a:spcPts val="1599"/>
              </a:lnSpc>
              <a:tabLst>
                <a:tab algn="l" pos="0"/>
              </a:tabLst>
            </a:pPr>
            <a:r>
              <a:rPr b="0" lang="en-US" sz="1500" spc="-1" strike="noStrike">
                <a:solidFill>
                  <a:srgbClr val="ffffff"/>
                </a:solidFill>
                <a:latin typeface="Calibri"/>
                <a:ea typeface="Calibri"/>
              </a:rPr>
              <a:t>ACCESODATOS</a:t>
            </a:r>
            <a:endParaRPr b="0" lang="en-US" sz="1500" spc="-1" strike="noStrike">
              <a:solidFill>
                <a:srgbClr val="ffffff"/>
              </a:solidFill>
              <a:latin typeface="Arial"/>
            </a:endParaRPr>
          </a:p>
        </p:txBody>
      </p:sp>
      <p:sp>
        <p:nvSpPr>
          <p:cNvPr id="141" name="Shape 18"/>
          <p:cNvSpPr/>
          <p:nvPr/>
        </p:nvSpPr>
        <p:spPr>
          <a:xfrm>
            <a:off x="4096440" y="2770560"/>
            <a:ext cx="219240" cy="219240"/>
          </a:xfrm>
          <a:prstGeom prst="ellipse">
            <a:avLst/>
          </a:prstGeom>
          <a:solidFill>
            <a:srgbClr val="121d33"/>
          </a:solidFill>
          <a:ln w="2540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Shape 19"/>
          <p:cNvSpPr/>
          <p:nvPr/>
        </p:nvSpPr>
        <p:spPr>
          <a:xfrm>
            <a:off x="3108960" y="2834640"/>
            <a:ext cx="987480" cy="360"/>
          </a:xfrm>
          <a:prstGeom prst="line">
            <a:avLst/>
          </a:prstGeom>
          <a:ln w="25400">
            <a:solidFill>
              <a:srgbClr val="1fa37d"/>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43" name="Shape 20"/>
          <p:cNvSpPr/>
          <p:nvPr/>
        </p:nvSpPr>
        <p:spPr>
          <a:xfrm>
            <a:off x="2880360" y="2706480"/>
            <a:ext cx="255600" cy="255600"/>
          </a:xfrm>
          <a:prstGeom prst="arc">
            <a:avLst>
              <a:gd name="adj1" fmla="val 16200000"/>
              <a:gd name="adj2" fmla="val 5400000"/>
            </a:avLst>
          </a:prstGeom>
          <a:noFill/>
          <a:ln w="2540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Shape 21"/>
          <p:cNvSpPr/>
          <p:nvPr/>
        </p:nvSpPr>
        <p:spPr>
          <a:xfrm>
            <a:off x="7662600" y="3566160"/>
            <a:ext cx="219240" cy="219240"/>
          </a:xfrm>
          <a:prstGeom prst="ellipse">
            <a:avLst/>
          </a:prstGeom>
          <a:solidFill>
            <a:srgbClr val="121d33"/>
          </a:solidFill>
          <a:ln w="2540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Shape 22"/>
          <p:cNvSpPr/>
          <p:nvPr/>
        </p:nvSpPr>
        <p:spPr>
          <a:xfrm>
            <a:off x="6675120" y="3291840"/>
            <a:ext cx="987480" cy="320040"/>
          </a:xfrm>
          <a:prstGeom prst="line">
            <a:avLst/>
          </a:prstGeom>
          <a:ln w="25400">
            <a:solidFill>
              <a:srgbClr val="e8a33d"/>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6" name="Shape 23"/>
          <p:cNvSpPr/>
          <p:nvPr/>
        </p:nvSpPr>
        <p:spPr>
          <a:xfrm>
            <a:off x="6446520" y="3127320"/>
            <a:ext cx="255600" cy="255600"/>
          </a:xfrm>
          <a:prstGeom prst="arc">
            <a:avLst>
              <a:gd name="adj1" fmla="val 16200000"/>
              <a:gd name="adj2" fmla="val 5400000"/>
            </a:avLst>
          </a:prstGeom>
          <a:noFill/>
          <a:ln w="2540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Shape 24"/>
          <p:cNvSpPr/>
          <p:nvPr/>
        </p:nvSpPr>
        <p:spPr>
          <a:xfrm flipV="1">
            <a:off x="6675120" y="4023360"/>
            <a:ext cx="1234440" cy="640080"/>
          </a:xfrm>
          <a:prstGeom prst="line">
            <a:avLst/>
          </a:prstGeom>
          <a:ln w="25400">
            <a:solidFill>
              <a:srgbClr val="e8a33d"/>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8" name="Shape 25"/>
          <p:cNvSpPr/>
          <p:nvPr/>
        </p:nvSpPr>
        <p:spPr>
          <a:xfrm>
            <a:off x="6446520" y="4535280"/>
            <a:ext cx="255600" cy="255600"/>
          </a:xfrm>
          <a:prstGeom prst="arc">
            <a:avLst>
              <a:gd name="adj1" fmla="val 16200000"/>
              <a:gd name="adj2" fmla="val 5400000"/>
            </a:avLst>
          </a:prstGeom>
          <a:noFill/>
          <a:ln w="2540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26"/>
          <p:cNvSpPr/>
          <p:nvPr/>
        </p:nvSpPr>
        <p:spPr>
          <a:xfrm>
            <a:off x="548640" y="5623560"/>
            <a:ext cx="777204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i="1" lang="en-US" sz="1500" spc="-1" strike="noStrike">
                <a:solidFill>
                  <a:srgbClr val="aeb8c9"/>
                </a:solidFill>
                <a:latin typeface="Calibri"/>
                <a:ea typeface="Calibri"/>
              </a:rPr>
              <a:t>LOS CÍRCULOS REPRESENTAN INTERFACES PROVISTAS Y LOS SEMICÍRCULOS, INTERFACES REQUERIDAS. LA CONEXIÓN SOLO ES VÁLIDA SI SON COMPATIBLES.</a:t>
            </a:r>
            <a:endParaRPr b="0" lang="en-US" sz="1500" spc="-1" strike="noStrike">
              <a:solidFill>
                <a:srgbClr val="ffffff"/>
              </a:solidFill>
              <a:latin typeface="Arial"/>
            </a:endParaRPr>
          </a:p>
        </p:txBody>
      </p:sp>
      <p:sp>
        <p:nvSpPr>
          <p:cNvPr id="150" name="Text 27"/>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07</a:t>
            </a:r>
            <a:endParaRPr b="0" lang="en-US"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51"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e8a33d"/>
                </a:solidFill>
                <a:latin typeface="Calibri"/>
                <a:ea typeface="Calibri"/>
              </a:rPr>
              <a:t>PASO 4 · EJEMPLO AMPLIADO</a:t>
            </a:r>
            <a:endParaRPr b="0" lang="en-US" sz="1550" spc="-1" strike="noStrike">
              <a:solidFill>
                <a:srgbClr val="000000"/>
              </a:solidFill>
              <a:latin typeface="Arial"/>
            </a:endParaRPr>
          </a:p>
        </p:txBody>
      </p:sp>
      <p:sp>
        <p:nvSpPr>
          <p:cNvPr id="152"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100" spc="-1" strike="noStrike">
                <a:solidFill>
                  <a:srgbClr val="1b2a4a"/>
                </a:solidFill>
                <a:latin typeface="Calibri"/>
                <a:ea typeface="Calibri"/>
              </a:rPr>
              <a:t>ESCALANDO EL MISMO CASO: ARQUITECTURA COMPLETA</a:t>
            </a:r>
            <a:endParaRPr b="0" lang="en-US" sz="3100" spc="-1" strike="noStrike">
              <a:solidFill>
                <a:srgbClr val="000000"/>
              </a:solidFill>
              <a:latin typeface="Arial"/>
            </a:endParaRPr>
          </a:p>
        </p:txBody>
      </p:sp>
      <p:sp>
        <p:nvSpPr>
          <p:cNvPr id="153" name="Shape 2"/>
          <p:cNvSpPr/>
          <p:nvPr/>
        </p:nvSpPr>
        <p:spPr>
          <a:xfrm>
            <a:off x="4663440" y="1691640"/>
            <a:ext cx="2834280" cy="776880"/>
          </a:xfrm>
          <a:prstGeom prst="roundRect">
            <a:avLst>
              <a:gd name="adj" fmla="val 5882"/>
            </a:avLst>
          </a:prstGeom>
          <a:solidFill>
            <a:srgbClr val="ffffff"/>
          </a:solidFill>
          <a:ln w="19050">
            <a:solidFill>
              <a:srgbClr val="1fa37d"/>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4" name="Shape 3"/>
          <p:cNvSpPr/>
          <p:nvPr/>
        </p:nvSpPr>
        <p:spPr>
          <a:xfrm>
            <a:off x="4517280" y="1810440"/>
            <a:ext cx="255600" cy="145800"/>
          </a:xfrm>
          <a:prstGeom prst="rect">
            <a:avLst/>
          </a:prstGeom>
          <a:solidFill>
            <a:srgbClr val="ffffff"/>
          </a:solidFill>
          <a:ln w="1397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5" name="Shape 4"/>
          <p:cNvSpPr/>
          <p:nvPr/>
        </p:nvSpPr>
        <p:spPr>
          <a:xfrm>
            <a:off x="4517280" y="2039040"/>
            <a:ext cx="255600" cy="145800"/>
          </a:xfrm>
          <a:prstGeom prst="rect">
            <a:avLst/>
          </a:prstGeom>
          <a:solidFill>
            <a:srgbClr val="ffffff"/>
          </a:solidFill>
          <a:ln w="1397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6" name="Text 5"/>
          <p:cNvSpPr/>
          <p:nvPr/>
        </p:nvSpPr>
        <p:spPr>
          <a:xfrm>
            <a:off x="4663440" y="1691640"/>
            <a:ext cx="283428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1" lang="en-US" sz="1400" spc="-1" strike="noStrike">
                <a:solidFill>
                  <a:srgbClr val="1b2a4a"/>
                </a:solidFill>
                <a:latin typeface="Calibri"/>
                <a:ea typeface="Calibri"/>
              </a:rPr>
              <a:t>«COMPONENT»</a:t>
            </a:r>
            <a:endParaRPr b="0" lang="en-US" sz="1400" spc="-1" strike="noStrike">
              <a:solidFill>
                <a:srgbClr val="000000"/>
              </a:solidFill>
              <a:latin typeface="Arial"/>
            </a:endParaRPr>
          </a:p>
          <a:p>
            <a:pPr algn="ctr" defTabSz="914400">
              <a:lnSpc>
                <a:spcPts val="1400"/>
              </a:lnSpc>
              <a:tabLst>
                <a:tab algn="l" pos="0"/>
              </a:tabLst>
            </a:pPr>
            <a:r>
              <a:rPr b="1" lang="en-US" sz="1400" spc="-1" strike="noStrike">
                <a:solidFill>
                  <a:srgbClr val="1b2a4a"/>
                </a:solidFill>
                <a:latin typeface="Calibri"/>
                <a:ea typeface="Calibri"/>
              </a:rPr>
              <a:t>SISTEMA WEB</a:t>
            </a:r>
            <a:endParaRPr b="0" lang="en-US" sz="1400" spc="-1" strike="noStrike">
              <a:solidFill>
                <a:srgbClr val="000000"/>
              </a:solidFill>
              <a:latin typeface="Arial"/>
            </a:endParaRPr>
          </a:p>
        </p:txBody>
      </p:sp>
      <p:sp>
        <p:nvSpPr>
          <p:cNvPr id="157" name="Shape 6"/>
          <p:cNvSpPr/>
          <p:nvPr/>
        </p:nvSpPr>
        <p:spPr>
          <a:xfrm>
            <a:off x="914400" y="3063240"/>
            <a:ext cx="2742840" cy="822600"/>
          </a:xfrm>
          <a:prstGeom prst="roundRect">
            <a:avLst>
              <a:gd name="adj" fmla="val 5556"/>
            </a:avLst>
          </a:prstGeom>
          <a:solidFill>
            <a:srgbClr val="ffffff"/>
          </a:solidFill>
          <a:ln w="19050">
            <a:solidFill>
              <a:srgbClr val="e8a33d"/>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8" name="Shape 7"/>
          <p:cNvSpPr/>
          <p:nvPr/>
        </p:nvSpPr>
        <p:spPr>
          <a:xfrm>
            <a:off x="768240" y="3182040"/>
            <a:ext cx="255600" cy="145800"/>
          </a:xfrm>
          <a:prstGeom prst="rect">
            <a:avLst/>
          </a:prstGeom>
          <a:solidFill>
            <a:srgbClr val="ffffff"/>
          </a:solidFill>
          <a:ln w="1397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9" name="Shape 8"/>
          <p:cNvSpPr/>
          <p:nvPr/>
        </p:nvSpPr>
        <p:spPr>
          <a:xfrm>
            <a:off x="768240" y="3410640"/>
            <a:ext cx="255600" cy="145800"/>
          </a:xfrm>
          <a:prstGeom prst="rect">
            <a:avLst/>
          </a:prstGeom>
          <a:solidFill>
            <a:srgbClr val="ffffff"/>
          </a:solidFill>
          <a:ln w="1397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0" name="Text 9"/>
          <p:cNvSpPr/>
          <p:nvPr/>
        </p:nvSpPr>
        <p:spPr>
          <a:xfrm>
            <a:off x="914400" y="3063240"/>
            <a:ext cx="274284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1" lang="en-US" sz="1400" spc="-1" strike="noStrike">
                <a:solidFill>
                  <a:srgbClr val="1b2a4a"/>
                </a:solidFill>
                <a:latin typeface="Calibri"/>
                <a:ea typeface="Calibri"/>
              </a:rPr>
              <a:t>«COMPONENT»</a:t>
            </a:r>
            <a:endParaRPr b="0" lang="en-US" sz="1400" spc="-1" strike="noStrike">
              <a:solidFill>
                <a:srgbClr val="000000"/>
              </a:solidFill>
              <a:latin typeface="Arial"/>
            </a:endParaRPr>
          </a:p>
          <a:p>
            <a:pPr algn="ctr" defTabSz="914400">
              <a:lnSpc>
                <a:spcPts val="1400"/>
              </a:lnSpc>
              <a:tabLst>
                <a:tab algn="l" pos="0"/>
              </a:tabLst>
            </a:pPr>
            <a:r>
              <a:rPr b="1" lang="en-US" sz="1400" spc="-1" strike="noStrike">
                <a:solidFill>
                  <a:srgbClr val="1b2a4a"/>
                </a:solidFill>
                <a:latin typeface="Calibri"/>
                <a:ea typeface="Calibri"/>
              </a:rPr>
              <a:t>GESTIÓN DE VENTAS</a:t>
            </a:r>
            <a:endParaRPr b="0" lang="en-US" sz="1400" spc="-1" strike="noStrike">
              <a:solidFill>
                <a:srgbClr val="000000"/>
              </a:solidFill>
              <a:latin typeface="Arial"/>
            </a:endParaRPr>
          </a:p>
        </p:txBody>
      </p:sp>
      <p:sp>
        <p:nvSpPr>
          <p:cNvPr id="161" name="Shape 10"/>
          <p:cNvSpPr/>
          <p:nvPr/>
        </p:nvSpPr>
        <p:spPr>
          <a:xfrm>
            <a:off x="4709160" y="3063240"/>
            <a:ext cx="2742840" cy="822600"/>
          </a:xfrm>
          <a:prstGeom prst="roundRect">
            <a:avLst>
              <a:gd name="adj" fmla="val 5556"/>
            </a:avLst>
          </a:prstGeom>
          <a:solidFill>
            <a:srgbClr val="ffffff"/>
          </a:solidFill>
          <a:ln w="19050">
            <a:solidFill>
              <a:srgbClr val="e8a33d"/>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2" name="Shape 11"/>
          <p:cNvSpPr/>
          <p:nvPr/>
        </p:nvSpPr>
        <p:spPr>
          <a:xfrm>
            <a:off x="4563000" y="3182040"/>
            <a:ext cx="255600" cy="145800"/>
          </a:xfrm>
          <a:prstGeom prst="rect">
            <a:avLst/>
          </a:prstGeom>
          <a:solidFill>
            <a:srgbClr val="ffffff"/>
          </a:solidFill>
          <a:ln w="1397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Shape 12"/>
          <p:cNvSpPr/>
          <p:nvPr/>
        </p:nvSpPr>
        <p:spPr>
          <a:xfrm>
            <a:off x="4563000" y="3410640"/>
            <a:ext cx="255600" cy="145800"/>
          </a:xfrm>
          <a:prstGeom prst="rect">
            <a:avLst/>
          </a:prstGeom>
          <a:solidFill>
            <a:srgbClr val="ffffff"/>
          </a:solidFill>
          <a:ln w="1397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4" name="Text 13"/>
          <p:cNvSpPr/>
          <p:nvPr/>
        </p:nvSpPr>
        <p:spPr>
          <a:xfrm>
            <a:off x="4709160" y="3063240"/>
            <a:ext cx="274284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1" lang="en-US" sz="1400" spc="-1" strike="noStrike">
                <a:solidFill>
                  <a:srgbClr val="1b2a4a"/>
                </a:solidFill>
                <a:latin typeface="Calibri"/>
                <a:ea typeface="Calibri"/>
              </a:rPr>
              <a:t>«COMPONENT»</a:t>
            </a:r>
            <a:endParaRPr b="0" lang="en-US" sz="1400" spc="-1" strike="noStrike">
              <a:solidFill>
                <a:srgbClr val="000000"/>
              </a:solidFill>
              <a:latin typeface="Arial"/>
            </a:endParaRPr>
          </a:p>
          <a:p>
            <a:pPr algn="ctr" defTabSz="914400">
              <a:lnSpc>
                <a:spcPts val="1400"/>
              </a:lnSpc>
              <a:tabLst>
                <a:tab algn="l" pos="0"/>
              </a:tabLst>
            </a:pPr>
            <a:r>
              <a:rPr b="1" lang="en-US" sz="1400" spc="-1" strike="noStrike">
                <a:solidFill>
                  <a:srgbClr val="1b2a4a"/>
                </a:solidFill>
                <a:latin typeface="Calibri"/>
                <a:ea typeface="Calibri"/>
              </a:rPr>
              <a:t>GESTIÓN DE CLIENTES</a:t>
            </a:r>
            <a:endParaRPr b="0" lang="en-US" sz="1400" spc="-1" strike="noStrike">
              <a:solidFill>
                <a:srgbClr val="000000"/>
              </a:solidFill>
              <a:latin typeface="Arial"/>
            </a:endParaRPr>
          </a:p>
        </p:txBody>
      </p:sp>
      <p:sp>
        <p:nvSpPr>
          <p:cNvPr id="165" name="Shape 14"/>
          <p:cNvSpPr/>
          <p:nvPr/>
        </p:nvSpPr>
        <p:spPr>
          <a:xfrm>
            <a:off x="8503920" y="3063240"/>
            <a:ext cx="2742840" cy="822600"/>
          </a:xfrm>
          <a:prstGeom prst="roundRect">
            <a:avLst>
              <a:gd name="adj" fmla="val 5556"/>
            </a:avLst>
          </a:prstGeom>
          <a:solidFill>
            <a:srgbClr val="ffffff"/>
          </a:solidFill>
          <a:ln w="19050">
            <a:solidFill>
              <a:srgbClr val="e8a33d"/>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6" name="Shape 15"/>
          <p:cNvSpPr/>
          <p:nvPr/>
        </p:nvSpPr>
        <p:spPr>
          <a:xfrm>
            <a:off x="8357760" y="3182040"/>
            <a:ext cx="255600" cy="145800"/>
          </a:xfrm>
          <a:prstGeom prst="rect">
            <a:avLst/>
          </a:prstGeom>
          <a:solidFill>
            <a:srgbClr val="ffffff"/>
          </a:solidFill>
          <a:ln w="1397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7" name="Shape 16"/>
          <p:cNvSpPr/>
          <p:nvPr/>
        </p:nvSpPr>
        <p:spPr>
          <a:xfrm>
            <a:off x="8357760" y="3410640"/>
            <a:ext cx="255600" cy="145800"/>
          </a:xfrm>
          <a:prstGeom prst="rect">
            <a:avLst/>
          </a:prstGeom>
          <a:solidFill>
            <a:srgbClr val="ffffff"/>
          </a:solidFill>
          <a:ln w="13970">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8" name="Text 17"/>
          <p:cNvSpPr/>
          <p:nvPr/>
        </p:nvSpPr>
        <p:spPr>
          <a:xfrm>
            <a:off x="8503920" y="3063240"/>
            <a:ext cx="2742840" cy="822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1" lang="en-US" sz="1400" spc="-1" strike="noStrike">
                <a:solidFill>
                  <a:srgbClr val="1b2a4a"/>
                </a:solidFill>
                <a:latin typeface="Calibri"/>
                <a:ea typeface="Calibri"/>
              </a:rPr>
              <a:t>«COMPONENT»</a:t>
            </a:r>
            <a:endParaRPr b="0" lang="en-US" sz="1400" spc="-1" strike="noStrike">
              <a:solidFill>
                <a:srgbClr val="000000"/>
              </a:solidFill>
              <a:latin typeface="Arial"/>
            </a:endParaRPr>
          </a:p>
          <a:p>
            <a:pPr algn="ctr" defTabSz="914400">
              <a:lnSpc>
                <a:spcPts val="1400"/>
              </a:lnSpc>
              <a:tabLst>
                <a:tab algn="l" pos="0"/>
              </a:tabLst>
            </a:pPr>
            <a:r>
              <a:rPr b="1" lang="en-US" sz="1400" spc="-1" strike="noStrike">
                <a:solidFill>
                  <a:srgbClr val="1b2a4a"/>
                </a:solidFill>
                <a:latin typeface="Calibri"/>
                <a:ea typeface="Calibri"/>
              </a:rPr>
              <a:t>GESTIÓN DE PRODUCTOS</a:t>
            </a:r>
            <a:endParaRPr b="0" lang="en-US" sz="1400" spc="-1" strike="noStrike">
              <a:solidFill>
                <a:srgbClr val="000000"/>
              </a:solidFill>
              <a:latin typeface="Arial"/>
            </a:endParaRPr>
          </a:p>
        </p:txBody>
      </p:sp>
      <p:sp>
        <p:nvSpPr>
          <p:cNvPr id="169" name="Shape 18"/>
          <p:cNvSpPr/>
          <p:nvPr/>
        </p:nvSpPr>
        <p:spPr>
          <a:xfrm>
            <a:off x="4663440" y="5074920"/>
            <a:ext cx="2834280" cy="776880"/>
          </a:xfrm>
          <a:prstGeom prst="roundRect">
            <a:avLst>
              <a:gd name="adj" fmla="val 5882"/>
            </a:avLst>
          </a:prstGeom>
          <a:solidFill>
            <a:srgbClr val="ffffff"/>
          </a:solidFill>
          <a:ln w="19050">
            <a:solidFill>
              <a:srgbClr val="3e6bb0"/>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0" name="Shape 19"/>
          <p:cNvSpPr/>
          <p:nvPr/>
        </p:nvSpPr>
        <p:spPr>
          <a:xfrm>
            <a:off x="4517280" y="5193720"/>
            <a:ext cx="255600" cy="145800"/>
          </a:xfrm>
          <a:prstGeom prst="rect">
            <a:avLst/>
          </a:prstGeom>
          <a:solidFill>
            <a:srgbClr val="ffffff"/>
          </a:solidFill>
          <a:ln w="13970">
            <a:solidFill>
              <a:srgbClr val="3e6bb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Shape 20"/>
          <p:cNvSpPr/>
          <p:nvPr/>
        </p:nvSpPr>
        <p:spPr>
          <a:xfrm>
            <a:off x="4517280" y="5422320"/>
            <a:ext cx="255600" cy="145800"/>
          </a:xfrm>
          <a:prstGeom prst="rect">
            <a:avLst/>
          </a:prstGeom>
          <a:solidFill>
            <a:srgbClr val="ffffff"/>
          </a:solidFill>
          <a:ln w="13970">
            <a:solidFill>
              <a:srgbClr val="3e6bb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2" name="Text 21"/>
          <p:cNvSpPr/>
          <p:nvPr/>
        </p:nvSpPr>
        <p:spPr>
          <a:xfrm>
            <a:off x="4663440" y="5074920"/>
            <a:ext cx="283428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1" lang="en-US" sz="1400" spc="-1" strike="noStrike">
                <a:solidFill>
                  <a:srgbClr val="1b2a4a"/>
                </a:solidFill>
                <a:latin typeface="Calibri"/>
                <a:ea typeface="Calibri"/>
              </a:rPr>
              <a:t>«COMPONENT»</a:t>
            </a:r>
            <a:endParaRPr b="0" lang="en-US" sz="1400" spc="-1" strike="noStrike">
              <a:solidFill>
                <a:srgbClr val="000000"/>
              </a:solidFill>
              <a:latin typeface="Arial"/>
            </a:endParaRPr>
          </a:p>
          <a:p>
            <a:pPr algn="ctr" defTabSz="914400">
              <a:lnSpc>
                <a:spcPts val="1400"/>
              </a:lnSpc>
              <a:tabLst>
                <a:tab algn="l" pos="0"/>
              </a:tabLst>
            </a:pPr>
            <a:r>
              <a:rPr b="1" lang="en-US" sz="1400" spc="-1" strike="noStrike">
                <a:solidFill>
                  <a:srgbClr val="1b2a4a"/>
                </a:solidFill>
                <a:latin typeface="Calibri"/>
                <a:ea typeface="Calibri"/>
              </a:rPr>
              <a:t>BASE DE DATOS</a:t>
            </a:r>
            <a:endParaRPr b="0" lang="en-US" sz="1400" spc="-1" strike="noStrike">
              <a:solidFill>
                <a:srgbClr val="000000"/>
              </a:solidFill>
              <a:latin typeface="Arial"/>
            </a:endParaRPr>
          </a:p>
        </p:txBody>
      </p:sp>
      <p:sp>
        <p:nvSpPr>
          <p:cNvPr id="173" name="Shape 22"/>
          <p:cNvSpPr/>
          <p:nvPr/>
        </p:nvSpPr>
        <p:spPr>
          <a:xfrm flipH="1">
            <a:off x="2286000" y="2468880"/>
            <a:ext cx="3794760" cy="594360"/>
          </a:xfrm>
          <a:prstGeom prst="line">
            <a:avLst/>
          </a:prstGeom>
          <a:ln w="19050">
            <a:solidFill>
              <a:srgbClr val="1fa37d"/>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174" name="Shape 23"/>
          <p:cNvSpPr/>
          <p:nvPr/>
        </p:nvSpPr>
        <p:spPr>
          <a:xfrm>
            <a:off x="6080760" y="2468880"/>
            <a:ext cx="360" cy="594360"/>
          </a:xfrm>
          <a:prstGeom prst="line">
            <a:avLst/>
          </a:prstGeom>
          <a:ln w="19050">
            <a:solidFill>
              <a:srgbClr val="1fa37d"/>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175" name="Shape 24"/>
          <p:cNvSpPr/>
          <p:nvPr/>
        </p:nvSpPr>
        <p:spPr>
          <a:xfrm>
            <a:off x="6080760" y="2468880"/>
            <a:ext cx="3794760" cy="594360"/>
          </a:xfrm>
          <a:prstGeom prst="line">
            <a:avLst/>
          </a:prstGeom>
          <a:ln w="19050">
            <a:solidFill>
              <a:srgbClr val="1fa37d"/>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176" name="Shape 25"/>
          <p:cNvSpPr/>
          <p:nvPr/>
        </p:nvSpPr>
        <p:spPr>
          <a:xfrm>
            <a:off x="2286000" y="3886200"/>
            <a:ext cx="3794760" cy="1188720"/>
          </a:xfrm>
          <a:prstGeom prst="line">
            <a:avLst/>
          </a:prstGeom>
          <a:ln w="19050">
            <a:solidFill>
              <a:srgbClr val="3e6bb0"/>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177" name="Shape 26"/>
          <p:cNvSpPr/>
          <p:nvPr/>
        </p:nvSpPr>
        <p:spPr>
          <a:xfrm>
            <a:off x="6080760" y="3886200"/>
            <a:ext cx="360" cy="1188720"/>
          </a:xfrm>
          <a:prstGeom prst="line">
            <a:avLst/>
          </a:prstGeom>
          <a:ln w="19050">
            <a:solidFill>
              <a:srgbClr val="3e6bb0"/>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178" name="Shape 27"/>
          <p:cNvSpPr/>
          <p:nvPr/>
        </p:nvSpPr>
        <p:spPr>
          <a:xfrm flipH="1">
            <a:off x="6080760" y="3886200"/>
            <a:ext cx="3794760" cy="1188720"/>
          </a:xfrm>
          <a:prstGeom prst="line">
            <a:avLst/>
          </a:prstGeom>
          <a:ln w="19050">
            <a:solidFill>
              <a:srgbClr val="3e6bb0"/>
            </a:solidFill>
            <a:round/>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ndParaRPr>
          </a:p>
        </p:txBody>
      </p:sp>
      <p:sp>
        <p:nvSpPr>
          <p:cNvPr id="179" name="Text 28"/>
          <p:cNvSpPr/>
          <p:nvPr/>
        </p:nvSpPr>
        <p:spPr>
          <a:xfrm>
            <a:off x="548640" y="6035040"/>
            <a:ext cx="1060668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500" spc="-1" strike="noStrike">
                <a:solidFill>
                  <a:srgbClr val="5b6472"/>
                </a:solidFill>
                <a:latin typeface="Calibri"/>
                <a:ea typeface="Calibri"/>
              </a:rPr>
              <a:t>EL MISMO RAZONAMIENTO (COMPONENTES + INTERFACES) ESCALA A UNA ARQUITECTURA CON VARIOS MÓDULOS CONVERGIENDO EN UNA BASE DE DATOS COMÚN.</a:t>
            </a:r>
            <a:endParaRPr b="0" lang="en-US" sz="1500" spc="-1" strike="noStrike">
              <a:solidFill>
                <a:srgbClr val="000000"/>
              </a:solidFill>
              <a:latin typeface="Arial"/>
            </a:endParaRPr>
          </a:p>
        </p:txBody>
      </p:sp>
      <p:sp>
        <p:nvSpPr>
          <p:cNvPr id="180" name="Text 29"/>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08</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181"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e8a33d"/>
                </a:solidFill>
                <a:latin typeface="Calibri"/>
                <a:ea typeface="Calibri"/>
              </a:rPr>
              <a:t>CONTEXTO EN UML</a:t>
            </a:r>
            <a:endParaRPr b="0" lang="en-US" sz="1550" spc="-1" strike="noStrike">
              <a:solidFill>
                <a:srgbClr val="000000"/>
              </a:solidFill>
              <a:latin typeface="Arial"/>
            </a:endParaRPr>
          </a:p>
        </p:txBody>
      </p:sp>
      <p:sp>
        <p:nvSpPr>
          <p:cNvPr id="182"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400" spc="-1" strike="noStrike">
                <a:solidFill>
                  <a:srgbClr val="1b2a4a"/>
                </a:solidFill>
                <a:latin typeface="Calibri"/>
                <a:ea typeface="Calibri"/>
              </a:rPr>
              <a:t>RELACIÓN CON OTROS DIAGRAMAS</a:t>
            </a:r>
            <a:endParaRPr b="0" lang="en-US" sz="3400" spc="-1" strike="noStrike">
              <a:solidFill>
                <a:srgbClr val="000000"/>
              </a:solidFill>
              <a:latin typeface="Arial"/>
            </a:endParaRPr>
          </a:p>
        </p:txBody>
      </p:sp>
      <p:sp>
        <p:nvSpPr>
          <p:cNvPr id="183" name="Shape 2"/>
          <p:cNvSpPr/>
          <p:nvPr/>
        </p:nvSpPr>
        <p:spPr>
          <a:xfrm>
            <a:off x="640080" y="2377440"/>
            <a:ext cx="2514240" cy="1554120"/>
          </a:xfrm>
          <a:prstGeom prst="roundRect">
            <a:avLst>
              <a:gd name="adj" fmla="val 4118"/>
            </a:avLst>
          </a:prstGeom>
          <a:solidFill>
            <a:srgbClr val="ffffff"/>
          </a:solidFill>
          <a:ln w="12700">
            <a:solidFill>
              <a:srgbClr val="d6dce5"/>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4" name="Text 3"/>
          <p:cNvSpPr/>
          <p:nvPr/>
        </p:nvSpPr>
        <p:spPr>
          <a:xfrm>
            <a:off x="777240" y="2560320"/>
            <a:ext cx="22399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50" spc="-1" strike="noStrike">
                <a:solidFill>
                  <a:srgbClr val="1b2a4a"/>
                </a:solidFill>
                <a:latin typeface="Calibri"/>
                <a:ea typeface="Calibri"/>
              </a:rPr>
              <a:t>CASOS DE USO</a:t>
            </a:r>
            <a:endParaRPr b="0" lang="en-US" sz="1850" spc="-1" strike="noStrike">
              <a:solidFill>
                <a:srgbClr val="000000"/>
              </a:solidFill>
              <a:latin typeface="Arial"/>
            </a:endParaRPr>
          </a:p>
        </p:txBody>
      </p:sp>
      <p:sp>
        <p:nvSpPr>
          <p:cNvPr id="185" name="Text 4"/>
          <p:cNvSpPr/>
          <p:nvPr/>
        </p:nvSpPr>
        <p:spPr>
          <a:xfrm>
            <a:off x="822960" y="3063240"/>
            <a:ext cx="214848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5b6472"/>
                </a:solidFill>
                <a:latin typeface="Calibri"/>
                <a:ea typeface="Calibri"/>
              </a:rPr>
              <a:t>DEFINEN LAS FUNCIONALIDADES QUE EL SISTEMA DEBE OFRECER.</a:t>
            </a:r>
            <a:endParaRPr b="0" lang="en-US" sz="1350" spc="-1" strike="noStrike">
              <a:solidFill>
                <a:srgbClr val="000000"/>
              </a:solidFill>
              <a:latin typeface="Arial"/>
            </a:endParaRPr>
          </a:p>
        </p:txBody>
      </p:sp>
      <p:sp>
        <p:nvSpPr>
          <p:cNvPr id="186" name="Shape 5"/>
          <p:cNvSpPr/>
          <p:nvPr/>
        </p:nvSpPr>
        <p:spPr>
          <a:xfrm>
            <a:off x="3209400" y="3154680"/>
            <a:ext cx="347400" cy="360"/>
          </a:xfrm>
          <a:prstGeom prst="line">
            <a:avLst/>
          </a:prstGeom>
          <a:ln w="19050">
            <a:solidFill>
              <a:srgbClr val="5b647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87" name="Shape 6"/>
          <p:cNvSpPr/>
          <p:nvPr/>
        </p:nvSpPr>
        <p:spPr>
          <a:xfrm>
            <a:off x="3611880" y="2377440"/>
            <a:ext cx="2514240" cy="1554120"/>
          </a:xfrm>
          <a:prstGeom prst="roundRect">
            <a:avLst>
              <a:gd name="adj" fmla="val 4118"/>
            </a:avLst>
          </a:prstGeom>
          <a:solidFill>
            <a:srgbClr val="ffffff"/>
          </a:solidFill>
          <a:ln w="12700">
            <a:solidFill>
              <a:srgbClr val="d6dce5"/>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8" name="Text 7"/>
          <p:cNvSpPr/>
          <p:nvPr/>
        </p:nvSpPr>
        <p:spPr>
          <a:xfrm>
            <a:off x="3749040" y="2560320"/>
            <a:ext cx="22399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50" spc="-1" strike="noStrike">
                <a:solidFill>
                  <a:srgbClr val="1b2a4a"/>
                </a:solidFill>
                <a:latin typeface="Calibri"/>
                <a:ea typeface="Calibri"/>
              </a:rPr>
              <a:t>CLASES</a:t>
            </a:r>
            <a:endParaRPr b="0" lang="en-US" sz="1850" spc="-1" strike="noStrike">
              <a:solidFill>
                <a:srgbClr val="000000"/>
              </a:solidFill>
              <a:latin typeface="Arial"/>
            </a:endParaRPr>
          </a:p>
        </p:txBody>
      </p:sp>
      <p:sp>
        <p:nvSpPr>
          <p:cNvPr id="189" name="Text 8"/>
          <p:cNvSpPr/>
          <p:nvPr/>
        </p:nvSpPr>
        <p:spPr>
          <a:xfrm>
            <a:off x="3794760" y="3063240"/>
            <a:ext cx="214848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5b6472"/>
                </a:solidFill>
                <a:latin typeface="Calibri"/>
                <a:ea typeface="Calibri"/>
              </a:rPr>
              <a:t>DETALLAN LA ESTRUCTURA INTERNA QUE LUEGO SE AGRUPA EN COMPONENTES.</a:t>
            </a:r>
            <a:endParaRPr b="0" lang="en-US" sz="1350" spc="-1" strike="noStrike">
              <a:solidFill>
                <a:srgbClr val="000000"/>
              </a:solidFill>
              <a:latin typeface="Arial"/>
            </a:endParaRPr>
          </a:p>
        </p:txBody>
      </p:sp>
      <p:sp>
        <p:nvSpPr>
          <p:cNvPr id="190" name="Shape 9"/>
          <p:cNvSpPr/>
          <p:nvPr/>
        </p:nvSpPr>
        <p:spPr>
          <a:xfrm>
            <a:off x="6181200" y="3154680"/>
            <a:ext cx="347400" cy="360"/>
          </a:xfrm>
          <a:prstGeom prst="line">
            <a:avLst/>
          </a:prstGeom>
          <a:ln w="19050">
            <a:solidFill>
              <a:srgbClr val="5b647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91" name="Shape 10"/>
          <p:cNvSpPr/>
          <p:nvPr/>
        </p:nvSpPr>
        <p:spPr>
          <a:xfrm>
            <a:off x="6583680" y="2377440"/>
            <a:ext cx="2514240" cy="1554120"/>
          </a:xfrm>
          <a:prstGeom prst="roundRect">
            <a:avLst>
              <a:gd name="adj" fmla="val 4118"/>
            </a:avLst>
          </a:prstGeom>
          <a:solidFill>
            <a:srgbClr val="1fa37d"/>
          </a:solidFill>
          <a:ln w="12700">
            <a:solidFill>
              <a:srgbClr val="1fa37d"/>
            </a:solidFill>
            <a:round/>
          </a:ln>
          <a:effectLst>
            <a:outerShdw algn="bl" blurRad="127080" dir="5400000" dist="38160" kx="0" ky="0" rotWithShape="0" sx="100000" sy="100000">
              <a:srgbClr val="1fa37d">
                <a:alpha val="35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Text 11"/>
          <p:cNvSpPr/>
          <p:nvPr/>
        </p:nvSpPr>
        <p:spPr>
          <a:xfrm>
            <a:off x="6720840" y="2560320"/>
            <a:ext cx="22399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50" spc="-1" strike="noStrike">
                <a:solidFill>
                  <a:srgbClr val="ffffff"/>
                </a:solidFill>
                <a:latin typeface="Calibri"/>
                <a:ea typeface="Calibri"/>
              </a:rPr>
              <a:t>COMPONENTES</a:t>
            </a:r>
            <a:endParaRPr b="0" lang="en-US" sz="1850" spc="-1" strike="noStrike">
              <a:solidFill>
                <a:srgbClr val="000000"/>
              </a:solidFill>
              <a:latin typeface="Arial"/>
            </a:endParaRPr>
          </a:p>
        </p:txBody>
      </p:sp>
      <p:sp>
        <p:nvSpPr>
          <p:cNvPr id="193" name="Text 12"/>
          <p:cNvSpPr/>
          <p:nvPr/>
        </p:nvSpPr>
        <p:spPr>
          <a:xfrm>
            <a:off x="6766560" y="3063240"/>
            <a:ext cx="214848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ffffff"/>
                </a:solidFill>
                <a:latin typeface="Calibri"/>
                <a:ea typeface="Calibri"/>
              </a:rPr>
              <a:t>ORGANIZAN LAS CLASES EN MÓDULOS CON INTERFACES DEFINIDAS.</a:t>
            </a:r>
            <a:endParaRPr b="0" lang="en-US" sz="1350" spc="-1" strike="noStrike">
              <a:solidFill>
                <a:srgbClr val="000000"/>
              </a:solidFill>
              <a:latin typeface="Arial"/>
            </a:endParaRPr>
          </a:p>
        </p:txBody>
      </p:sp>
      <p:sp>
        <p:nvSpPr>
          <p:cNvPr id="194" name="Shape 13"/>
          <p:cNvSpPr/>
          <p:nvPr/>
        </p:nvSpPr>
        <p:spPr>
          <a:xfrm>
            <a:off x="9153000" y="3154680"/>
            <a:ext cx="347400" cy="360"/>
          </a:xfrm>
          <a:prstGeom prst="line">
            <a:avLst/>
          </a:prstGeom>
          <a:ln w="19050">
            <a:solidFill>
              <a:srgbClr val="5b6472"/>
            </a:solidFill>
            <a:round/>
            <a:tailEnd len="med" type="triangle" w="me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ndParaRPr>
          </a:p>
        </p:txBody>
      </p:sp>
      <p:sp>
        <p:nvSpPr>
          <p:cNvPr id="195" name="Shape 14"/>
          <p:cNvSpPr/>
          <p:nvPr/>
        </p:nvSpPr>
        <p:spPr>
          <a:xfrm>
            <a:off x="9555480" y="2377440"/>
            <a:ext cx="2514240" cy="1554120"/>
          </a:xfrm>
          <a:prstGeom prst="roundRect">
            <a:avLst>
              <a:gd name="adj" fmla="val 4118"/>
            </a:avLst>
          </a:prstGeom>
          <a:solidFill>
            <a:srgbClr val="ffffff"/>
          </a:solidFill>
          <a:ln w="12700">
            <a:solidFill>
              <a:srgbClr val="d6dce5"/>
            </a:solidFill>
            <a:round/>
          </a:ln>
          <a:effectLst>
            <a:outerShdw algn="bl" blurRad="76320" dir="5400000" dist="25560" kx="0" ky="0" rotWithShape="0" sx="100000" sy="100000">
              <a:srgbClr val="9aa5b5">
                <a:alpha val="30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6" name="Text 15"/>
          <p:cNvSpPr/>
          <p:nvPr/>
        </p:nvSpPr>
        <p:spPr>
          <a:xfrm>
            <a:off x="9692640" y="2560320"/>
            <a:ext cx="22399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50" spc="-1" strike="noStrike">
                <a:solidFill>
                  <a:srgbClr val="1b2a4a"/>
                </a:solidFill>
                <a:latin typeface="Calibri"/>
                <a:ea typeface="Calibri"/>
              </a:rPr>
              <a:t>DESPLIEGUE</a:t>
            </a:r>
            <a:endParaRPr b="0" lang="en-US" sz="1850" spc="-1" strike="noStrike">
              <a:solidFill>
                <a:srgbClr val="000000"/>
              </a:solidFill>
              <a:latin typeface="Arial"/>
            </a:endParaRPr>
          </a:p>
        </p:txBody>
      </p:sp>
      <p:sp>
        <p:nvSpPr>
          <p:cNvPr id="197" name="Text 16"/>
          <p:cNvSpPr/>
          <p:nvPr/>
        </p:nvSpPr>
        <p:spPr>
          <a:xfrm>
            <a:off x="9738360" y="3063240"/>
            <a:ext cx="2148480" cy="776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5b6472"/>
                </a:solidFill>
                <a:latin typeface="Calibri"/>
                <a:ea typeface="Calibri"/>
              </a:rPr>
              <a:t>UBICA LOS COMPONENTES EN NODOS FÍSICOS O SERVIDORES.</a:t>
            </a:r>
            <a:endParaRPr b="0" lang="en-US" sz="1350" spc="-1" strike="noStrike">
              <a:solidFill>
                <a:srgbClr val="000000"/>
              </a:solidFill>
              <a:latin typeface="Arial"/>
            </a:endParaRPr>
          </a:p>
        </p:txBody>
      </p:sp>
      <p:sp>
        <p:nvSpPr>
          <p:cNvPr id="198" name="Text 17"/>
          <p:cNvSpPr/>
          <p:nvPr/>
        </p:nvSpPr>
        <p:spPr>
          <a:xfrm>
            <a:off x="640080" y="4434840"/>
            <a:ext cx="1033236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650" spc="-1" strike="noStrike">
                <a:solidFill>
                  <a:srgbClr val="5b6472"/>
                </a:solidFill>
                <a:latin typeface="Calibri"/>
                <a:ea typeface="Calibri"/>
              </a:rPr>
              <a:t>LOS DIAGRAMAS DE COMPONENTES SON EL PUENTE ENTRE EL DISEÑO LÓGICO (CLASES) Y LA IMPLEMENTACIÓN FÍSICA (DESPLIEGUE).</a:t>
            </a:r>
            <a:endParaRPr b="0" lang="en-US" sz="1650" spc="-1" strike="noStrike">
              <a:solidFill>
                <a:srgbClr val="000000"/>
              </a:solidFill>
              <a:latin typeface="Arial"/>
            </a:endParaRPr>
          </a:p>
        </p:txBody>
      </p:sp>
      <p:sp>
        <p:nvSpPr>
          <p:cNvPr id="199" name="Text 18"/>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09</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9"/>
        </a:solidFill>
      </p:bgPr>
    </p:bg>
    <p:spTree>
      <p:nvGrpSpPr>
        <p:cNvPr id="1" name=""/>
        <p:cNvGrpSpPr/>
        <p:nvPr/>
      </p:nvGrpSpPr>
      <p:grpSpPr>
        <a:xfrm>
          <a:off x="0" y="0"/>
          <a:ext cx="0" cy="0"/>
          <a:chOff x="0" y="0"/>
          <a:chExt cx="0" cy="0"/>
        </a:xfrm>
      </p:grpSpPr>
      <p:sp>
        <p:nvSpPr>
          <p:cNvPr id="200" name="Text 0"/>
          <p:cNvSpPr/>
          <p:nvPr/>
        </p:nvSpPr>
        <p:spPr>
          <a:xfrm>
            <a:off x="548640" y="38412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RECOMENDACIONES</a:t>
            </a:r>
            <a:endParaRPr b="0" lang="en-US" sz="1550" spc="-1" strike="noStrike">
              <a:solidFill>
                <a:srgbClr val="000000"/>
              </a:solidFill>
              <a:latin typeface="Arial"/>
            </a:endParaRPr>
          </a:p>
        </p:txBody>
      </p:sp>
      <p:sp>
        <p:nvSpPr>
          <p:cNvPr id="201" name="Text 1"/>
          <p:cNvSpPr/>
          <p:nvPr/>
        </p:nvSpPr>
        <p:spPr>
          <a:xfrm>
            <a:off x="548640" y="685800"/>
            <a:ext cx="10789560" cy="63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400" spc="-1" strike="noStrike">
                <a:solidFill>
                  <a:srgbClr val="1b2a4a"/>
                </a:solidFill>
                <a:latin typeface="Calibri"/>
                <a:ea typeface="Calibri"/>
              </a:rPr>
              <a:t>BUENAS PRÁCTICAS AL MODELAR</a:t>
            </a:r>
            <a:endParaRPr b="0" lang="en-US" sz="3400" spc="-1" strike="noStrike">
              <a:solidFill>
                <a:srgbClr val="000000"/>
              </a:solidFill>
              <a:latin typeface="Arial"/>
            </a:endParaRPr>
          </a:p>
        </p:txBody>
      </p:sp>
      <p:sp>
        <p:nvSpPr>
          <p:cNvPr id="202" name="Shape 2"/>
          <p:cNvSpPr/>
          <p:nvPr/>
        </p:nvSpPr>
        <p:spPr>
          <a:xfrm>
            <a:off x="548640" y="1600200"/>
            <a:ext cx="5348880" cy="4205880"/>
          </a:xfrm>
          <a:prstGeom prst="roundRect">
            <a:avLst>
              <a:gd name="adj" fmla="val 1522"/>
            </a:avLst>
          </a:prstGeom>
          <a:solidFill>
            <a:srgbClr val="e6f5f0"/>
          </a:solidFill>
          <a:ln w="12700">
            <a:solidFill>
              <a:srgbClr val="e6f5f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3" name="Text 3"/>
          <p:cNvSpPr/>
          <p:nvPr/>
        </p:nvSpPr>
        <p:spPr>
          <a:xfrm>
            <a:off x="868680" y="1828800"/>
            <a:ext cx="36572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50" spc="199" strike="noStrike">
                <a:solidFill>
                  <a:srgbClr val="1fa37d"/>
                </a:solidFill>
                <a:latin typeface="Calibri"/>
                <a:ea typeface="Calibri"/>
              </a:rPr>
              <a:t>HACER</a:t>
            </a:r>
            <a:endParaRPr b="0" lang="en-US" sz="1650" spc="-1" strike="noStrike">
              <a:solidFill>
                <a:srgbClr val="000000"/>
              </a:solidFill>
              <a:latin typeface="Arial"/>
            </a:endParaRPr>
          </a:p>
        </p:txBody>
      </p:sp>
      <p:sp>
        <p:nvSpPr>
          <p:cNvPr id="204" name="Shape 4"/>
          <p:cNvSpPr/>
          <p:nvPr/>
        </p:nvSpPr>
        <p:spPr>
          <a:xfrm>
            <a:off x="868680" y="2331720"/>
            <a:ext cx="255600" cy="255600"/>
          </a:xfrm>
          <a:prstGeom prst="ellipse">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5" name="Text 5"/>
          <p:cNvSpPr/>
          <p:nvPr/>
        </p:nvSpPr>
        <p:spPr>
          <a:xfrm>
            <a:off x="868680" y="233172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50" spc="-1" strike="noStrike">
                <a:solidFill>
                  <a:srgbClr val="ffffff"/>
                </a:solidFill>
                <a:latin typeface="Calibri"/>
                <a:ea typeface="Calibri"/>
              </a:rPr>
              <a:t>✓</a:t>
            </a:r>
            <a:endParaRPr b="0" lang="en-US" sz="1550" spc="-1" strike="noStrike">
              <a:solidFill>
                <a:srgbClr val="000000"/>
              </a:solidFill>
              <a:latin typeface="Arial"/>
            </a:endParaRPr>
          </a:p>
        </p:txBody>
      </p:sp>
      <p:sp>
        <p:nvSpPr>
          <p:cNvPr id="206" name="Text 6"/>
          <p:cNvSpPr/>
          <p:nvPr/>
        </p:nvSpPr>
        <p:spPr>
          <a:xfrm>
            <a:off x="1280160" y="225864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NOMBRAR CADA COMPONENTE CON UN SUSTANTIVO CLARO (EJ. GESTORPEDIDOS).</a:t>
            </a:r>
            <a:endParaRPr b="0" lang="en-US" sz="1500" spc="-1" strike="noStrike">
              <a:solidFill>
                <a:srgbClr val="000000"/>
              </a:solidFill>
              <a:latin typeface="Arial"/>
            </a:endParaRPr>
          </a:p>
        </p:txBody>
      </p:sp>
      <p:sp>
        <p:nvSpPr>
          <p:cNvPr id="207" name="Shape 7"/>
          <p:cNvSpPr/>
          <p:nvPr/>
        </p:nvSpPr>
        <p:spPr>
          <a:xfrm>
            <a:off x="868680" y="3108960"/>
            <a:ext cx="255600" cy="255600"/>
          </a:xfrm>
          <a:prstGeom prst="ellipse">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Text 8"/>
          <p:cNvSpPr/>
          <p:nvPr/>
        </p:nvSpPr>
        <p:spPr>
          <a:xfrm>
            <a:off x="868680" y="310896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50" spc="-1" strike="noStrike">
                <a:solidFill>
                  <a:srgbClr val="ffffff"/>
                </a:solidFill>
                <a:latin typeface="Calibri"/>
                <a:ea typeface="Calibri"/>
              </a:rPr>
              <a:t>✓</a:t>
            </a:r>
            <a:endParaRPr b="0" lang="en-US" sz="1550" spc="-1" strike="noStrike">
              <a:solidFill>
                <a:srgbClr val="000000"/>
              </a:solidFill>
              <a:latin typeface="Arial"/>
            </a:endParaRPr>
          </a:p>
        </p:txBody>
      </p:sp>
      <p:sp>
        <p:nvSpPr>
          <p:cNvPr id="209" name="Text 9"/>
          <p:cNvSpPr/>
          <p:nvPr/>
        </p:nvSpPr>
        <p:spPr>
          <a:xfrm>
            <a:off x="1280160" y="303588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EXPONER SOLO LO NECESARIO A TRAVÉS DE INTERFACES BIEN DEFINIDAS.</a:t>
            </a:r>
            <a:endParaRPr b="0" lang="en-US" sz="1500" spc="-1" strike="noStrike">
              <a:solidFill>
                <a:srgbClr val="000000"/>
              </a:solidFill>
              <a:latin typeface="Arial"/>
            </a:endParaRPr>
          </a:p>
        </p:txBody>
      </p:sp>
      <p:sp>
        <p:nvSpPr>
          <p:cNvPr id="210" name="Shape 10"/>
          <p:cNvSpPr/>
          <p:nvPr/>
        </p:nvSpPr>
        <p:spPr>
          <a:xfrm>
            <a:off x="868680" y="3886200"/>
            <a:ext cx="255600" cy="255600"/>
          </a:xfrm>
          <a:prstGeom prst="ellipse">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Text 11"/>
          <p:cNvSpPr/>
          <p:nvPr/>
        </p:nvSpPr>
        <p:spPr>
          <a:xfrm>
            <a:off x="868680" y="388620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50" spc="-1" strike="noStrike">
                <a:solidFill>
                  <a:srgbClr val="ffffff"/>
                </a:solidFill>
                <a:latin typeface="Calibri"/>
                <a:ea typeface="Calibri"/>
              </a:rPr>
              <a:t>✓</a:t>
            </a:r>
            <a:endParaRPr b="0" lang="en-US" sz="1550" spc="-1" strike="noStrike">
              <a:solidFill>
                <a:srgbClr val="000000"/>
              </a:solidFill>
              <a:latin typeface="Arial"/>
            </a:endParaRPr>
          </a:p>
        </p:txBody>
      </p:sp>
      <p:sp>
        <p:nvSpPr>
          <p:cNvPr id="212" name="Text 12"/>
          <p:cNvSpPr/>
          <p:nvPr/>
        </p:nvSpPr>
        <p:spPr>
          <a:xfrm>
            <a:off x="1280160" y="381312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MINIMIZAR DEPENDENCIAS DIRECTAS ENTRE COMPONENTES.</a:t>
            </a:r>
            <a:endParaRPr b="0" lang="en-US" sz="1500" spc="-1" strike="noStrike">
              <a:solidFill>
                <a:srgbClr val="000000"/>
              </a:solidFill>
              <a:latin typeface="Arial"/>
            </a:endParaRPr>
          </a:p>
        </p:txBody>
      </p:sp>
      <p:sp>
        <p:nvSpPr>
          <p:cNvPr id="213" name="Shape 13"/>
          <p:cNvSpPr/>
          <p:nvPr/>
        </p:nvSpPr>
        <p:spPr>
          <a:xfrm>
            <a:off x="868680" y="4663440"/>
            <a:ext cx="255600" cy="255600"/>
          </a:xfrm>
          <a:prstGeom prst="ellipse">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Text 14"/>
          <p:cNvSpPr/>
          <p:nvPr/>
        </p:nvSpPr>
        <p:spPr>
          <a:xfrm>
            <a:off x="868680" y="466344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50" spc="-1" strike="noStrike">
                <a:solidFill>
                  <a:srgbClr val="ffffff"/>
                </a:solidFill>
                <a:latin typeface="Calibri"/>
                <a:ea typeface="Calibri"/>
              </a:rPr>
              <a:t>✓</a:t>
            </a:r>
            <a:endParaRPr b="0" lang="en-US" sz="1550" spc="-1" strike="noStrike">
              <a:solidFill>
                <a:srgbClr val="000000"/>
              </a:solidFill>
              <a:latin typeface="Arial"/>
            </a:endParaRPr>
          </a:p>
        </p:txBody>
      </p:sp>
      <p:sp>
        <p:nvSpPr>
          <p:cNvPr id="215" name="Text 15"/>
          <p:cNvSpPr/>
          <p:nvPr/>
        </p:nvSpPr>
        <p:spPr>
          <a:xfrm>
            <a:off x="1280160" y="459036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AGRUPAR POR RESPONSABILIDAD, NO POR TIPO DE ARCHIVO.</a:t>
            </a:r>
            <a:endParaRPr b="0" lang="en-US" sz="1500" spc="-1" strike="noStrike">
              <a:solidFill>
                <a:srgbClr val="000000"/>
              </a:solidFill>
              <a:latin typeface="Arial"/>
            </a:endParaRPr>
          </a:p>
        </p:txBody>
      </p:sp>
      <p:sp>
        <p:nvSpPr>
          <p:cNvPr id="216" name="Shape 16"/>
          <p:cNvSpPr/>
          <p:nvPr/>
        </p:nvSpPr>
        <p:spPr>
          <a:xfrm>
            <a:off x="6172200" y="1600200"/>
            <a:ext cx="5348880" cy="4205880"/>
          </a:xfrm>
          <a:prstGeom prst="roundRect">
            <a:avLst>
              <a:gd name="adj" fmla="val 1522"/>
            </a:avLst>
          </a:prstGeom>
          <a:solidFill>
            <a:srgbClr val="fbeae8"/>
          </a:solidFill>
          <a:ln w="12700">
            <a:solidFill>
              <a:srgbClr val="fbea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7" name="Text 17"/>
          <p:cNvSpPr/>
          <p:nvPr/>
        </p:nvSpPr>
        <p:spPr>
          <a:xfrm>
            <a:off x="6492240" y="1828800"/>
            <a:ext cx="36572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50" spc="199" strike="noStrike">
                <a:solidFill>
                  <a:srgbClr val="c0392b"/>
                </a:solidFill>
                <a:latin typeface="Calibri"/>
                <a:ea typeface="Calibri"/>
              </a:rPr>
              <a:t>EVITAR</a:t>
            </a:r>
            <a:endParaRPr b="0" lang="en-US" sz="1650" spc="-1" strike="noStrike">
              <a:solidFill>
                <a:srgbClr val="000000"/>
              </a:solidFill>
              <a:latin typeface="Arial"/>
            </a:endParaRPr>
          </a:p>
        </p:txBody>
      </p:sp>
      <p:sp>
        <p:nvSpPr>
          <p:cNvPr id="218" name="Shape 18"/>
          <p:cNvSpPr/>
          <p:nvPr/>
        </p:nvSpPr>
        <p:spPr>
          <a:xfrm>
            <a:off x="6492240" y="2331720"/>
            <a:ext cx="255600" cy="255600"/>
          </a:xfrm>
          <a:prstGeom prst="ellipse">
            <a:avLst/>
          </a:pr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Text 19"/>
          <p:cNvSpPr/>
          <p:nvPr/>
        </p:nvSpPr>
        <p:spPr>
          <a:xfrm>
            <a:off x="6492240" y="233172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50" spc="-1" strike="noStrike">
                <a:solidFill>
                  <a:srgbClr val="ffffff"/>
                </a:solidFill>
                <a:latin typeface="Calibri"/>
                <a:ea typeface="Calibri"/>
              </a:rPr>
              <a:t>✕</a:t>
            </a:r>
            <a:endParaRPr b="0" lang="en-US" sz="1450" spc="-1" strike="noStrike">
              <a:solidFill>
                <a:srgbClr val="000000"/>
              </a:solidFill>
              <a:latin typeface="Arial"/>
            </a:endParaRPr>
          </a:p>
        </p:txBody>
      </p:sp>
      <p:sp>
        <p:nvSpPr>
          <p:cNvPr id="220" name="Text 20"/>
          <p:cNvSpPr/>
          <p:nvPr/>
        </p:nvSpPr>
        <p:spPr>
          <a:xfrm>
            <a:off x="6903720" y="225864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MEZCLAR NIVELES DE ABSTRACCIÓN (CLASES Y COMPONENTES JUNTOS).</a:t>
            </a:r>
            <a:endParaRPr b="0" lang="en-US" sz="1500" spc="-1" strike="noStrike">
              <a:solidFill>
                <a:srgbClr val="000000"/>
              </a:solidFill>
              <a:latin typeface="Arial"/>
            </a:endParaRPr>
          </a:p>
        </p:txBody>
      </p:sp>
      <p:sp>
        <p:nvSpPr>
          <p:cNvPr id="221" name="Shape 21"/>
          <p:cNvSpPr/>
          <p:nvPr/>
        </p:nvSpPr>
        <p:spPr>
          <a:xfrm>
            <a:off x="6492240" y="3108960"/>
            <a:ext cx="255600" cy="255600"/>
          </a:xfrm>
          <a:prstGeom prst="ellipse">
            <a:avLst/>
          </a:pr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Text 22"/>
          <p:cNvSpPr/>
          <p:nvPr/>
        </p:nvSpPr>
        <p:spPr>
          <a:xfrm>
            <a:off x="6492240" y="310896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50" spc="-1" strike="noStrike">
                <a:solidFill>
                  <a:srgbClr val="ffffff"/>
                </a:solidFill>
                <a:latin typeface="Calibri"/>
                <a:ea typeface="Calibri"/>
              </a:rPr>
              <a:t>✕</a:t>
            </a:r>
            <a:endParaRPr b="0" lang="en-US" sz="1450" spc="-1" strike="noStrike">
              <a:solidFill>
                <a:srgbClr val="000000"/>
              </a:solidFill>
              <a:latin typeface="Arial"/>
            </a:endParaRPr>
          </a:p>
        </p:txBody>
      </p:sp>
      <p:sp>
        <p:nvSpPr>
          <p:cNvPr id="223" name="Text 23"/>
          <p:cNvSpPr/>
          <p:nvPr/>
        </p:nvSpPr>
        <p:spPr>
          <a:xfrm>
            <a:off x="6903720" y="303588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CREAR COMPONENTES SIN NINGUNA INTERFAZ VISIBLE.</a:t>
            </a:r>
            <a:endParaRPr b="0" lang="en-US" sz="1500" spc="-1" strike="noStrike">
              <a:solidFill>
                <a:srgbClr val="000000"/>
              </a:solidFill>
              <a:latin typeface="Arial"/>
            </a:endParaRPr>
          </a:p>
        </p:txBody>
      </p:sp>
      <p:sp>
        <p:nvSpPr>
          <p:cNvPr id="224" name="Shape 24"/>
          <p:cNvSpPr/>
          <p:nvPr/>
        </p:nvSpPr>
        <p:spPr>
          <a:xfrm>
            <a:off x="6492240" y="3886200"/>
            <a:ext cx="255600" cy="255600"/>
          </a:xfrm>
          <a:prstGeom prst="ellipse">
            <a:avLst/>
          </a:pr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Text 25"/>
          <p:cNvSpPr/>
          <p:nvPr/>
        </p:nvSpPr>
        <p:spPr>
          <a:xfrm>
            <a:off x="6492240" y="388620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50" spc="-1" strike="noStrike">
                <a:solidFill>
                  <a:srgbClr val="ffffff"/>
                </a:solidFill>
                <a:latin typeface="Calibri"/>
                <a:ea typeface="Calibri"/>
              </a:rPr>
              <a:t>✕</a:t>
            </a:r>
            <a:endParaRPr b="0" lang="en-US" sz="1450" spc="-1" strike="noStrike">
              <a:solidFill>
                <a:srgbClr val="000000"/>
              </a:solidFill>
              <a:latin typeface="Arial"/>
            </a:endParaRPr>
          </a:p>
        </p:txBody>
      </p:sp>
      <p:sp>
        <p:nvSpPr>
          <p:cNvPr id="226" name="Text 26"/>
          <p:cNvSpPr/>
          <p:nvPr/>
        </p:nvSpPr>
        <p:spPr>
          <a:xfrm>
            <a:off x="6903720" y="381312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DIBUJAR DEPENDENCIAS CIRCULARES ENTRE COMPONENTES.</a:t>
            </a:r>
            <a:endParaRPr b="0" lang="en-US" sz="1500" spc="-1" strike="noStrike">
              <a:solidFill>
                <a:srgbClr val="000000"/>
              </a:solidFill>
              <a:latin typeface="Arial"/>
            </a:endParaRPr>
          </a:p>
        </p:txBody>
      </p:sp>
      <p:sp>
        <p:nvSpPr>
          <p:cNvPr id="227" name="Shape 27"/>
          <p:cNvSpPr/>
          <p:nvPr/>
        </p:nvSpPr>
        <p:spPr>
          <a:xfrm>
            <a:off x="6492240" y="4663440"/>
            <a:ext cx="255600" cy="255600"/>
          </a:xfrm>
          <a:prstGeom prst="ellipse">
            <a:avLst/>
          </a:prstGeom>
          <a:solidFill>
            <a:srgbClr val="c0392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Text 28"/>
          <p:cNvSpPr/>
          <p:nvPr/>
        </p:nvSpPr>
        <p:spPr>
          <a:xfrm>
            <a:off x="6492240" y="4663440"/>
            <a:ext cx="255600" cy="255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50" spc="-1" strike="noStrike">
                <a:solidFill>
                  <a:srgbClr val="ffffff"/>
                </a:solidFill>
                <a:latin typeface="Calibri"/>
                <a:ea typeface="Calibri"/>
              </a:rPr>
              <a:t>✕</a:t>
            </a:r>
            <a:endParaRPr b="0" lang="en-US" sz="1450" spc="-1" strike="noStrike">
              <a:solidFill>
                <a:srgbClr val="000000"/>
              </a:solidFill>
              <a:latin typeface="Arial"/>
            </a:endParaRPr>
          </a:p>
        </p:txBody>
      </p:sp>
      <p:sp>
        <p:nvSpPr>
          <p:cNvPr id="229" name="Text 29"/>
          <p:cNvSpPr/>
          <p:nvPr/>
        </p:nvSpPr>
        <p:spPr>
          <a:xfrm>
            <a:off x="6903720" y="4590360"/>
            <a:ext cx="443448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ts val="1599"/>
              </a:lnSpc>
              <a:tabLst>
                <a:tab algn="l" pos="0"/>
              </a:tabLst>
            </a:pPr>
            <a:r>
              <a:rPr b="0" lang="en-US" sz="1500" spc="-1" strike="noStrike">
                <a:solidFill>
                  <a:srgbClr val="1b2a4a"/>
                </a:solidFill>
                <a:latin typeface="Calibri"/>
                <a:ea typeface="Calibri"/>
              </a:rPr>
              <a:t>OMITIR EL ESTEREOTIPO «COMPONENT» EN EL RECTÁNGULO.</a:t>
            </a:r>
            <a:endParaRPr b="0" lang="en-US" sz="1500" spc="-1" strike="noStrike">
              <a:solidFill>
                <a:srgbClr val="000000"/>
              </a:solidFill>
              <a:latin typeface="Arial"/>
            </a:endParaRPr>
          </a:p>
        </p:txBody>
      </p:sp>
      <p:sp>
        <p:nvSpPr>
          <p:cNvPr id="230" name="Text 30"/>
          <p:cNvSpPr/>
          <p:nvPr/>
        </p:nvSpPr>
        <p:spPr>
          <a:xfrm>
            <a:off x="11475720" y="6473880"/>
            <a:ext cx="548280" cy="2739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250" spc="-1" strike="noStrike">
                <a:solidFill>
                  <a:srgbClr val="5b6472"/>
                </a:solidFill>
                <a:latin typeface="Calibri"/>
                <a:ea typeface="Calibri"/>
              </a:rPr>
              <a:t>10</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1d33"/>
        </a:solidFill>
      </p:bgPr>
    </p:bg>
    <p:spTree>
      <p:nvGrpSpPr>
        <p:cNvPr id="1" name=""/>
        <p:cNvGrpSpPr/>
        <p:nvPr/>
      </p:nvGrpSpPr>
      <p:grpSpPr>
        <a:xfrm>
          <a:off x="0" y="0"/>
          <a:ext cx="0" cy="0"/>
          <a:chOff x="0" y="0"/>
          <a:chExt cx="0" cy="0"/>
        </a:xfrm>
      </p:grpSpPr>
      <p:sp>
        <p:nvSpPr>
          <p:cNvPr id="231" name="Text 0"/>
          <p:cNvSpPr/>
          <p:nvPr/>
        </p:nvSpPr>
        <p:spPr>
          <a:xfrm>
            <a:off x="548640" y="822960"/>
            <a:ext cx="5486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50" spc="199" strike="noStrike">
                <a:solidFill>
                  <a:srgbClr val="1fa37d"/>
                </a:solidFill>
                <a:latin typeface="Calibri"/>
                <a:ea typeface="Calibri"/>
              </a:rPr>
              <a:t>ACTIVIDAD PRÁCTICA</a:t>
            </a:r>
            <a:endParaRPr b="0" lang="en-US" sz="1550" spc="-1" strike="noStrike">
              <a:solidFill>
                <a:srgbClr val="ffffff"/>
              </a:solidFill>
              <a:latin typeface="Arial"/>
            </a:endParaRPr>
          </a:p>
        </p:txBody>
      </p:sp>
      <p:sp>
        <p:nvSpPr>
          <p:cNvPr id="232" name="Text 1"/>
          <p:cNvSpPr/>
          <p:nvPr/>
        </p:nvSpPr>
        <p:spPr>
          <a:xfrm>
            <a:off x="548640" y="1143000"/>
            <a:ext cx="7314840" cy="822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pc="-1" strike="noStrike">
                <a:solidFill>
                  <a:srgbClr val="ffffff"/>
                </a:solidFill>
                <a:latin typeface="Calibri"/>
                <a:ea typeface="Calibri"/>
              </a:rPr>
              <a:t>MANOS A LA OBRA</a:t>
            </a:r>
            <a:endParaRPr b="0" lang="en-US" sz="3800" spc="-1" strike="noStrike">
              <a:solidFill>
                <a:srgbClr val="ffffff"/>
              </a:solidFill>
              <a:latin typeface="Arial"/>
            </a:endParaRPr>
          </a:p>
        </p:txBody>
      </p:sp>
      <p:sp>
        <p:nvSpPr>
          <p:cNvPr id="233" name="Shape 2"/>
          <p:cNvSpPr/>
          <p:nvPr/>
        </p:nvSpPr>
        <p:spPr>
          <a:xfrm>
            <a:off x="548640" y="2286000"/>
            <a:ext cx="383760" cy="383760"/>
          </a:xfrm>
          <a:prstGeom prst="roundRect">
            <a:avLst>
              <a:gd name="adj" fmla="val 14286"/>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Text 3"/>
          <p:cNvSpPr/>
          <p:nvPr/>
        </p:nvSpPr>
        <p:spPr>
          <a:xfrm>
            <a:off x="548640" y="228600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121d33"/>
                </a:solidFill>
                <a:latin typeface="Calibri"/>
                <a:ea typeface="Calibri"/>
              </a:rPr>
              <a:t>1</a:t>
            </a:r>
            <a:endParaRPr b="0" lang="en-US" sz="1800" spc="-1" strike="noStrike">
              <a:solidFill>
                <a:srgbClr val="ffffff"/>
              </a:solidFill>
              <a:latin typeface="Arial"/>
            </a:endParaRPr>
          </a:p>
        </p:txBody>
      </p:sp>
      <p:sp>
        <p:nvSpPr>
          <p:cNvPr id="235" name="Text 4"/>
          <p:cNvSpPr/>
          <p:nvPr/>
        </p:nvSpPr>
        <p:spPr>
          <a:xfrm>
            <a:off x="1097280" y="2258640"/>
            <a:ext cx="66747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pc="-1" strike="noStrike">
                <a:solidFill>
                  <a:srgbClr val="dce3ee"/>
                </a:solidFill>
                <a:latin typeface="Calibri"/>
                <a:ea typeface="Calibri"/>
              </a:rPr>
              <a:t>RETOMA EL CASO DE ESTUDIO TRABAJADO EN EL DIAGRAMA DE CLASES.</a:t>
            </a:r>
            <a:endParaRPr b="0" lang="en-US" sz="1800" spc="-1" strike="noStrike">
              <a:solidFill>
                <a:srgbClr val="ffffff"/>
              </a:solidFill>
              <a:latin typeface="Arial"/>
            </a:endParaRPr>
          </a:p>
        </p:txBody>
      </p:sp>
      <p:sp>
        <p:nvSpPr>
          <p:cNvPr id="236" name="Shape 5"/>
          <p:cNvSpPr/>
          <p:nvPr/>
        </p:nvSpPr>
        <p:spPr>
          <a:xfrm>
            <a:off x="548640" y="2944440"/>
            <a:ext cx="383760" cy="383760"/>
          </a:xfrm>
          <a:prstGeom prst="roundRect">
            <a:avLst>
              <a:gd name="adj" fmla="val 14286"/>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7" name="Text 6"/>
          <p:cNvSpPr/>
          <p:nvPr/>
        </p:nvSpPr>
        <p:spPr>
          <a:xfrm>
            <a:off x="548640" y="294444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121d33"/>
                </a:solidFill>
                <a:latin typeface="Calibri"/>
                <a:ea typeface="Calibri"/>
              </a:rPr>
              <a:t>2</a:t>
            </a:r>
            <a:endParaRPr b="0" lang="en-US" sz="1800" spc="-1" strike="noStrike">
              <a:solidFill>
                <a:srgbClr val="ffffff"/>
              </a:solidFill>
              <a:latin typeface="Arial"/>
            </a:endParaRPr>
          </a:p>
        </p:txBody>
      </p:sp>
      <p:sp>
        <p:nvSpPr>
          <p:cNvPr id="238" name="Text 7"/>
          <p:cNvSpPr/>
          <p:nvPr/>
        </p:nvSpPr>
        <p:spPr>
          <a:xfrm>
            <a:off x="1097280" y="2917080"/>
            <a:ext cx="66747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pc="-1" strike="noStrike">
                <a:solidFill>
                  <a:srgbClr val="dce3ee"/>
                </a:solidFill>
                <a:latin typeface="Calibri"/>
                <a:ea typeface="Calibri"/>
              </a:rPr>
              <a:t>AGRUPA LAS CLASES EN 3 A 5 COMPONENTES LÓGICOS.</a:t>
            </a:r>
            <a:endParaRPr b="0" lang="en-US" sz="1800" spc="-1" strike="noStrike">
              <a:solidFill>
                <a:srgbClr val="ffffff"/>
              </a:solidFill>
              <a:latin typeface="Arial"/>
            </a:endParaRPr>
          </a:p>
        </p:txBody>
      </p:sp>
      <p:sp>
        <p:nvSpPr>
          <p:cNvPr id="239" name="Shape 8"/>
          <p:cNvSpPr/>
          <p:nvPr/>
        </p:nvSpPr>
        <p:spPr>
          <a:xfrm>
            <a:off x="548640" y="3602880"/>
            <a:ext cx="383760" cy="383760"/>
          </a:xfrm>
          <a:prstGeom prst="roundRect">
            <a:avLst>
              <a:gd name="adj" fmla="val 14286"/>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0" name="Text 9"/>
          <p:cNvSpPr/>
          <p:nvPr/>
        </p:nvSpPr>
        <p:spPr>
          <a:xfrm>
            <a:off x="548640" y="360288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121d33"/>
                </a:solidFill>
                <a:latin typeface="Calibri"/>
                <a:ea typeface="Calibri"/>
              </a:rPr>
              <a:t>3</a:t>
            </a:r>
            <a:endParaRPr b="0" lang="en-US" sz="1800" spc="-1" strike="noStrike">
              <a:solidFill>
                <a:srgbClr val="ffffff"/>
              </a:solidFill>
              <a:latin typeface="Arial"/>
            </a:endParaRPr>
          </a:p>
        </p:txBody>
      </p:sp>
      <p:sp>
        <p:nvSpPr>
          <p:cNvPr id="241" name="Text 10"/>
          <p:cNvSpPr/>
          <p:nvPr/>
        </p:nvSpPr>
        <p:spPr>
          <a:xfrm>
            <a:off x="1097280" y="3575160"/>
            <a:ext cx="66747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pc="-1" strike="noStrike">
                <a:solidFill>
                  <a:srgbClr val="dce3ee"/>
                </a:solidFill>
                <a:latin typeface="Calibri"/>
                <a:ea typeface="Calibri"/>
              </a:rPr>
              <a:t>DEFINE LAS INTERFACES PROVISTAS Y REQUERIDAS DE CADA UNO.</a:t>
            </a:r>
            <a:endParaRPr b="0" lang="en-US" sz="1800" spc="-1" strike="noStrike">
              <a:solidFill>
                <a:srgbClr val="ffffff"/>
              </a:solidFill>
              <a:latin typeface="Arial"/>
            </a:endParaRPr>
          </a:p>
        </p:txBody>
      </p:sp>
      <p:sp>
        <p:nvSpPr>
          <p:cNvPr id="242" name="Shape 11"/>
          <p:cNvSpPr/>
          <p:nvPr/>
        </p:nvSpPr>
        <p:spPr>
          <a:xfrm>
            <a:off x="548640" y="4260960"/>
            <a:ext cx="383760" cy="383760"/>
          </a:xfrm>
          <a:prstGeom prst="roundRect">
            <a:avLst>
              <a:gd name="adj" fmla="val 14286"/>
            </a:avLst>
          </a:prstGeom>
          <a:solidFill>
            <a:srgbClr val="1fa37d"/>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Text 12"/>
          <p:cNvSpPr/>
          <p:nvPr/>
        </p:nvSpPr>
        <p:spPr>
          <a:xfrm>
            <a:off x="548640" y="4260960"/>
            <a:ext cx="3837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121d33"/>
                </a:solidFill>
                <a:latin typeface="Calibri"/>
                <a:ea typeface="Calibri"/>
              </a:rPr>
              <a:t>4</a:t>
            </a:r>
            <a:endParaRPr b="0" lang="en-US" sz="1800" spc="-1" strike="noStrike">
              <a:solidFill>
                <a:srgbClr val="ffffff"/>
              </a:solidFill>
              <a:latin typeface="Arial"/>
            </a:endParaRPr>
          </a:p>
        </p:txBody>
      </p:sp>
      <p:sp>
        <p:nvSpPr>
          <p:cNvPr id="244" name="Text 13"/>
          <p:cNvSpPr/>
          <p:nvPr/>
        </p:nvSpPr>
        <p:spPr>
          <a:xfrm>
            <a:off x="1097280" y="4233600"/>
            <a:ext cx="66747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pc="-1" strike="noStrike">
                <a:solidFill>
                  <a:srgbClr val="dce3ee"/>
                </a:solidFill>
                <a:latin typeface="Calibri"/>
                <a:ea typeface="Calibri"/>
              </a:rPr>
              <a:t>DIBUJA EL DIAGRAMA EN UNA HERRAMIENTA UML Y EXPÓRTALO.</a:t>
            </a:r>
            <a:endParaRPr b="0" lang="en-US" sz="1800" spc="-1" strike="noStrike">
              <a:solidFill>
                <a:srgbClr val="ffffff"/>
              </a:solidFill>
              <a:latin typeface="Arial"/>
            </a:endParaRPr>
          </a:p>
        </p:txBody>
      </p:sp>
      <p:sp>
        <p:nvSpPr>
          <p:cNvPr id="245" name="Shape 14"/>
          <p:cNvSpPr/>
          <p:nvPr/>
        </p:nvSpPr>
        <p:spPr>
          <a:xfrm>
            <a:off x="8321040" y="2286000"/>
            <a:ext cx="3108600" cy="3200040"/>
          </a:xfrm>
          <a:prstGeom prst="roundRect">
            <a:avLst>
              <a:gd name="adj" fmla="val 2353"/>
            </a:avLst>
          </a:prstGeom>
          <a:solidFill>
            <a:srgbClr val="1b2a4a"/>
          </a:solidFill>
          <a:ln w="12700">
            <a:solidFill>
              <a:srgbClr val="2e3e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Shape 15"/>
          <p:cNvSpPr/>
          <p:nvPr/>
        </p:nvSpPr>
        <p:spPr>
          <a:xfrm>
            <a:off x="8732520" y="2697480"/>
            <a:ext cx="2285640" cy="685440"/>
          </a:xfrm>
          <a:prstGeom prst="roundRect">
            <a:avLst>
              <a:gd name="adj" fmla="val 5333"/>
            </a:avLst>
          </a:prstGeom>
          <a:solidFill>
            <a:srgbClr val="121d33"/>
          </a:solidFill>
          <a:ln w="15875">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Text 16"/>
          <p:cNvSpPr/>
          <p:nvPr/>
        </p:nvSpPr>
        <p:spPr>
          <a:xfrm>
            <a:off x="8732520" y="2697480"/>
            <a:ext cx="2285640" cy="6854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ffffff"/>
                </a:solidFill>
                <a:latin typeface="Calibri"/>
                <a:ea typeface="Calibri"/>
              </a:rPr>
              <a:t>«COMPONENT»</a:t>
            </a:r>
            <a:endParaRPr b="0" lang="en-US" sz="1350" spc="-1" strike="noStrike">
              <a:solidFill>
                <a:srgbClr val="ffffff"/>
              </a:solidFill>
              <a:latin typeface="Arial"/>
            </a:endParaRPr>
          </a:p>
          <a:p>
            <a:pPr algn="ctr" defTabSz="914400">
              <a:lnSpc>
                <a:spcPts val="1400"/>
              </a:lnSpc>
              <a:tabLst>
                <a:tab algn="l" pos="0"/>
              </a:tabLst>
            </a:pPr>
            <a:r>
              <a:rPr b="0" lang="en-US" sz="1350" spc="-1" strike="noStrike">
                <a:solidFill>
                  <a:srgbClr val="ffffff"/>
                </a:solidFill>
                <a:latin typeface="Calibri"/>
                <a:ea typeface="Calibri"/>
              </a:rPr>
              <a:t>A</a:t>
            </a:r>
            <a:endParaRPr b="0" lang="en-US" sz="1350" spc="-1" strike="noStrike">
              <a:solidFill>
                <a:srgbClr val="ffffff"/>
              </a:solidFill>
              <a:latin typeface="Arial"/>
            </a:endParaRPr>
          </a:p>
        </p:txBody>
      </p:sp>
      <p:sp>
        <p:nvSpPr>
          <p:cNvPr id="248" name="Shape 17"/>
          <p:cNvSpPr/>
          <p:nvPr/>
        </p:nvSpPr>
        <p:spPr>
          <a:xfrm>
            <a:off x="9875520" y="3383280"/>
            <a:ext cx="360" cy="502920"/>
          </a:xfrm>
          <a:prstGeom prst="line">
            <a:avLst/>
          </a:prstGeom>
          <a:ln w="25400">
            <a:solidFill>
              <a:srgbClr val="1fa37d"/>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9" name="Shape 18"/>
          <p:cNvSpPr/>
          <p:nvPr/>
        </p:nvSpPr>
        <p:spPr>
          <a:xfrm>
            <a:off x="9747360" y="3794760"/>
            <a:ext cx="255600" cy="255600"/>
          </a:xfrm>
          <a:prstGeom prst="ellipse">
            <a:avLst/>
          </a:prstGeom>
          <a:solidFill>
            <a:srgbClr val="121d33"/>
          </a:solidFill>
          <a:ln w="25400">
            <a:solidFill>
              <a:srgbClr val="1fa37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Shape 19"/>
          <p:cNvSpPr/>
          <p:nvPr/>
        </p:nvSpPr>
        <p:spPr>
          <a:xfrm>
            <a:off x="8732520" y="4251960"/>
            <a:ext cx="2285640" cy="685440"/>
          </a:xfrm>
          <a:prstGeom prst="roundRect">
            <a:avLst>
              <a:gd name="adj" fmla="val 5333"/>
            </a:avLst>
          </a:prstGeom>
          <a:solidFill>
            <a:srgbClr val="121d33"/>
          </a:solidFill>
          <a:ln w="15875">
            <a:solidFill>
              <a:srgbClr val="e8a33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Text 20"/>
          <p:cNvSpPr/>
          <p:nvPr/>
        </p:nvSpPr>
        <p:spPr>
          <a:xfrm>
            <a:off x="8732520" y="4251960"/>
            <a:ext cx="2285640" cy="6854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1400"/>
              </a:lnSpc>
              <a:tabLst>
                <a:tab algn="l" pos="0"/>
              </a:tabLst>
            </a:pPr>
            <a:r>
              <a:rPr b="0" lang="en-US" sz="1350" spc="-1" strike="noStrike">
                <a:solidFill>
                  <a:srgbClr val="ffffff"/>
                </a:solidFill>
                <a:latin typeface="Calibri"/>
                <a:ea typeface="Calibri"/>
              </a:rPr>
              <a:t>«COMPONENT»</a:t>
            </a:r>
            <a:endParaRPr b="0" lang="en-US" sz="1350" spc="-1" strike="noStrike">
              <a:solidFill>
                <a:srgbClr val="ffffff"/>
              </a:solidFill>
              <a:latin typeface="Arial"/>
            </a:endParaRPr>
          </a:p>
          <a:p>
            <a:pPr algn="ctr" defTabSz="914400">
              <a:lnSpc>
                <a:spcPts val="1400"/>
              </a:lnSpc>
              <a:tabLst>
                <a:tab algn="l" pos="0"/>
              </a:tabLst>
            </a:pPr>
            <a:r>
              <a:rPr b="0" lang="en-US" sz="1350" spc="-1" strike="noStrike">
                <a:solidFill>
                  <a:srgbClr val="ffffff"/>
                </a:solidFill>
                <a:latin typeface="Calibri"/>
                <a:ea typeface="Calibri"/>
              </a:rPr>
              <a:t>B</a:t>
            </a:r>
            <a:endParaRPr b="0" lang="en-US" sz="1350" spc="-1" strike="noStrike">
              <a:solidFill>
                <a:srgbClr val="ffffff"/>
              </a:solidFill>
              <a:latin typeface="Arial"/>
            </a:endParaRPr>
          </a:p>
        </p:txBody>
      </p:sp>
      <p:sp>
        <p:nvSpPr>
          <p:cNvPr id="252" name="Text 21"/>
          <p:cNvSpPr/>
          <p:nvPr/>
        </p:nvSpPr>
        <p:spPr>
          <a:xfrm>
            <a:off x="548640" y="6035040"/>
            <a:ext cx="73148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550" spc="-1" strike="noStrike">
                <a:solidFill>
                  <a:srgbClr val="8a97ac"/>
                </a:solidFill>
                <a:latin typeface="Calibri"/>
                <a:ea typeface="Calibri"/>
              </a:rPr>
              <a:t>¡ÉXITOS CON EL DISEÑO DE SU ARQUITECTURA!</a:t>
            </a:r>
            <a:endParaRPr b="0" lang="en-US" sz="15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2026-08-25T00:41:02Z</dcterms:created>
  <dc:creator>PptxGenJS</dc:creator>
  <dc:description/>
  <dc:language>en-US</dc:language>
  <cp:lastModifiedBy>PptxGenJS</cp:lastModifiedBy>
  <dcterms:modified xsi:type="dcterms:W3CDTF">2026-08-25T00:41:02Z</dcterms:modified>
  <cp:revision>1</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11</vt:r8>
  </property>
  <property fmtid="{D5CDD505-2E9C-101B-9397-08002B2CF9AE}" pid="3" name="PresentationFormat">
    <vt:lpwstr>On-screen Show (16:9)</vt:lpwstr>
  </property>
  <property fmtid="{D5CDD505-2E9C-101B-9397-08002B2CF9AE}" pid="4" name="Slides">
    <vt:r8>11</vt:r8>
  </property>
</Properties>
</file>